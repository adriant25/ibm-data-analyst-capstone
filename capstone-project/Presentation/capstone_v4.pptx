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82" r:id="rId18"/>
    <p:sldId id="268" r:id="rId19"/>
    <p:sldId id="269" r:id="rId20"/>
    <p:sldId id="283" r:id="rId21"/>
    <p:sldId id="270" r:id="rId22"/>
    <p:sldId id="271" r:id="rId23"/>
    <p:sldId id="272" r:id="rId24"/>
    <p:sldId id="273" r:id="rId25"/>
  </p:sldIdLst>
  <p:sldSz cx="12192000" cy="6858000"/>
  <p:notesSz cx="6858000" cy="1857375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99" d="100"/>
          <a:sy n="99" d="100"/>
        </p:scale>
        <p:origin x="72" y="84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  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Emerging Technology Trends: Insights from the Stack Overflow Developer Survey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Jaiverth Adrian Tovar Lozada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March 21, 2026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Key Findings from the Stack Overflow Developer Survey 2026</a:t>
            </a:r>
          </a:p>
          <a:p>
            <a:r>
              <a:rPr lang="en-US" sz="2200" dirty="0"/>
              <a:t>Data Integrity: Analysis of 63,972 validated responses following rigorous deduplication and IQR-based outlier mitigation.</a:t>
            </a:r>
          </a:p>
          <a:p>
            <a:r>
              <a:rPr lang="en-US" sz="2200" dirty="0"/>
              <a:t>AI-Driven Pivot: Python has surpassed JavaScript as the premier desired language, signaling a structural ecosystem shift toward AI/ML.</a:t>
            </a:r>
          </a:p>
          <a:p>
            <a:r>
              <a:rPr lang="en-US" sz="2200" dirty="0"/>
              <a:t>Infrastructure Standard: PostgreSQL maintains undisputed market hegemony in both current utilization and future adoption intent.</a:t>
            </a:r>
          </a:p>
          <a:p>
            <a:r>
              <a:rPr lang="en-US" sz="2200" dirty="0"/>
              <a:t>Retention Baseline: Hybrid work has transitioned into a "hygiene factor," critical for maintaining the current 6.9/10 satisfaction index.</a:t>
            </a:r>
          </a:p>
          <a:p>
            <a:r>
              <a:rPr lang="en-US" sz="2200" dirty="0"/>
              <a:t>Strategic Gap: A significant proficiency misalignment exists in Cloud platforms (AWS/Azure); bridging this gap offers a distinct competitive advantage.</a:t>
            </a:r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" y="2223535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048708" y="1541602"/>
            <a:ext cx="7578610" cy="46281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Purpose, Target Audience &amp; Value of the Analysis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200" b="1" dirty="0">
                <a:solidFill>
                  <a:schemeClr val="tx1"/>
                </a:solidFill>
              </a:rPr>
              <a:t>Purpose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Analyze the Stack Overflow Developer Survey to identify current and future in-demand technology skills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Support strategic business decisions for a global IT and technology consulting firm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Target Audience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Technology leaders, hiring managers, and strategic decision-makers within the organization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Key Questions Addressed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Which programming languages, databases, and IDEs are most in demand today?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What technologies are developers planning to adopt in the near future?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What are the demographic characteristics of the global developer community?</a:t>
            </a:r>
          </a:p>
          <a:p>
            <a:r>
              <a:rPr lang="en-US" sz="2200" b="1" dirty="0">
                <a:solidFill>
                  <a:schemeClr val="tx1"/>
                </a:solidFill>
              </a:rPr>
              <a:t>Value of This Analysis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Enables data-driven hiring, training, and technology investment strategies for 2026 and beyond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Data Source, Collection &amp; Wrangling</a:t>
            </a:r>
          </a:p>
          <a:p>
            <a:r>
              <a:rPr lang="en-US" sz="2200" dirty="0"/>
              <a:t>Source: Stack Overflow Developer Survey 2026 (IBM Skills Network, ODbL license)</a:t>
            </a:r>
          </a:p>
          <a:p>
            <a:r>
              <a:rPr lang="en-US" sz="2200" dirty="0"/>
              <a:t>65,437 raw responses · 114 columns · loaded via URL · persisted in SQLite</a:t>
            </a:r>
          </a:p>
          <a:p>
            <a:r>
              <a:rPr lang="en-US" sz="2200" dirty="0"/>
              <a:t>Data Wrangling — 8-step pipeline:</a:t>
            </a:r>
          </a:p>
          <a:p>
            <a:r>
              <a:rPr lang="en-US" sz="2200" dirty="0"/>
              <a:t>Tools: Python 3.12 · pandas · matplotlib · seaborn · sqlite3</a:t>
            </a:r>
          </a:p>
          <a:p>
            <a:pPr lvl="1"/>
            <a:r>
              <a:rPr lang="en-US" sz="2200" dirty="0"/>
              <a:t>487 duplicates removed · missing values imputed (median / mode) · IQR outlier detection</a:t>
            </a:r>
          </a:p>
          <a:p>
            <a:pPr lvl="1"/>
            <a:r>
              <a:rPr lang="en-US" sz="2200" dirty="0"/>
              <a:t>4 features engineered: ExperienceLevel · Comp_MinMax · Comp_Zscore · YearsCodeProNum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940464" y="2625487"/>
            <a:ext cx="74133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sz="2000" dirty="0"/>
              <a:t>Five business questions — one integrated dataset. The following analysis surfaces patterns in developer technology adoption, compensation, and demographics drawn from 63,972 cleaned survey responses</a:t>
            </a:r>
            <a:r>
              <a:rPr lang="es-CO" sz="2000" dirty="0"/>
              <a:t> (</a:t>
            </a:r>
            <a:r>
              <a:rPr lang="es-CO" sz="2000" dirty="0" err="1"/>
              <a:t>with</a:t>
            </a:r>
            <a:r>
              <a:rPr lang="es-CO" sz="2000" dirty="0"/>
              <a:t> </a:t>
            </a:r>
            <a:r>
              <a:rPr lang="es-CO" sz="2000" dirty="0" err="1"/>
              <a:t>outliers</a:t>
            </a:r>
            <a:r>
              <a:rPr lang="es-CO" sz="2000" dirty="0"/>
              <a:t> removed)</a:t>
            </a:r>
            <a:r>
              <a:rPr sz="2000" dirty="0"/>
              <a:t>. Results are presented across three dimensions: job market demand (Slides 7–8), technology adoption trends (Slides 9–12), and developer demographics (Slide 16 / Dashboard).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27,005 total technology job postings analyzed across 7 U.S. cities — filtered locally from the full dataset</a:t>
            </a:r>
          </a:p>
          <a:p>
            <a:r>
              <a:rPr sz="1300" b="0">
                <a:solidFill>
                  <a:srgbClr val="FFFFFF"/>
                </a:solidFill>
              </a:rPr>
              <a:t>• New York leads in technology job volume, followed by San Francisco and Washington DC</a:t>
            </a:r>
          </a:p>
          <a:p>
            <a:r>
              <a:rPr sz="1300" b="0">
                <a:solidFill>
                  <a:srgbClr val="FFFFFF"/>
                </a:solidFill>
              </a:rPr>
              <a:t>• Python, SQL, and JavaScript dominate ‘Key Skills’ requirements across all cities</a:t>
            </a:r>
          </a:p>
          <a:p>
            <a:r>
              <a:rPr sz="1300" b="0">
                <a:solidFill>
                  <a:srgbClr val="FFFFFF"/>
                </a:solidFill>
              </a:rPr>
              <a:t>• Strong nationwide tech hiring demand — no city falls below 1,000 postings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9C9F35-4325-98DD-A47B-1055BC2AE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256" y="1708614"/>
            <a:ext cx="8137487" cy="44679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• Swift ($130,801) commands the highest salary — iOS developer premium reflects niche supply vs. demand</a:t>
            </a:r>
          </a:p>
          <a:p>
            <a:r>
              <a:rPr sz="1300" b="0">
                <a:solidFill>
                  <a:srgbClr val="FFFFFF"/>
                </a:solidFill>
              </a:rPr>
              <a:t>• Python ($114,383) ranks 2nd — its salary + #1 desired language status make it the best ROI skill investment</a:t>
            </a:r>
          </a:p>
          <a:p>
            <a:r>
              <a:rPr sz="1300" b="0">
                <a:solidFill>
                  <a:srgbClr val="FFFFFF"/>
                </a:solidFill>
              </a:rPr>
              <a:t>• The salary gap between highest (Swift) and lowest (PHP $84,727) is $46,074 — choosing a language has real financial implications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767C94-B91B-F1C0-046C-0C530B2B0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084" y="1521322"/>
            <a:ext cx="9051811" cy="44679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1193813" y="1340490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JavaScript leads current usage (42,697) but Python surges to #1 desired (34,245) — a clear market shift toward data science and AI. TypeScript holds top 5 in both lists.</a:t>
            </a:r>
          </a:p>
        </p:txBody>
      </p:sp>
      <p:pic>
        <p:nvPicPr>
          <p:cNvPr id="12" name="Picture 11" descr="lang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73" y="2663554"/>
            <a:ext cx="4614949" cy="3670301"/>
          </a:xfrm>
          <a:prstGeom prst="rect">
            <a:avLst/>
          </a:prstGeom>
        </p:spPr>
      </p:pic>
      <p:pic>
        <p:nvPicPr>
          <p:cNvPr id="13" name="Picture 12" descr="lang_desi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63554"/>
            <a:ext cx="4614949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r>
              <a:rPr lang="en-US" dirty="0"/>
              <a:t>JavaScript is the most widely used language today (42,697 respondents)</a:t>
            </a:r>
          </a:p>
          <a:p>
            <a:r>
              <a:rPr lang="en-US" dirty="0"/>
              <a:t>Python is #1 desired for next year (34,245), surpassing JavaScript by 44%</a:t>
            </a:r>
          </a:p>
          <a:p>
            <a:r>
              <a:rPr lang="en-US" dirty="0"/>
              <a:t>TypeScript ranks top 5 in both lists — steady growth as JavaScript's companion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r>
              <a:rPr lang="en-US" dirty="0"/>
              <a:t>Prioritize Python upskilling for teams moving into data science and AI roles</a:t>
            </a:r>
          </a:p>
          <a:p>
            <a:r>
              <a:rPr lang="en-US" dirty="0"/>
              <a:t>JavaScript + TypeScript remain essential skills for full-stack development hiring</a:t>
            </a:r>
          </a:p>
          <a:p>
            <a:r>
              <a:rPr lang="en-US" dirty="0"/>
              <a:t>SQL (4th most used) is critical for data analyst and backend developer roles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1468392" y="1500489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PostgreSQL leads both current use (40,232) and future demand (46,397) by a wide margin. Supabase enters the desired top 10 for the first time — an emerging challenger to watch.</a:t>
            </a:r>
          </a:p>
        </p:txBody>
      </p:sp>
      <p:pic>
        <p:nvPicPr>
          <p:cNvPr id="8" name="Picture 7" descr="db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758931"/>
            <a:ext cx="4614949" cy="3670301"/>
          </a:xfrm>
          <a:prstGeom prst="rect">
            <a:avLst/>
          </a:prstGeom>
        </p:spPr>
      </p:pic>
      <p:pic>
        <p:nvPicPr>
          <p:cNvPr id="9" name="Picture 8" descr="db_desi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95286"/>
            <a:ext cx="4614949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r>
              <a:rPr lang="en-US" dirty="0"/>
              <a:t>PostgreSQL is the most used AND most desired database — by a wide margin</a:t>
            </a:r>
          </a:p>
          <a:p>
            <a:r>
              <a:rPr lang="en-US" dirty="0"/>
              <a:t>MySQL remains widely used but shows declining preference in desired rankings</a:t>
            </a:r>
          </a:p>
          <a:p>
            <a:r>
              <a:rPr lang="en-US" dirty="0"/>
              <a:t>Supabase (2,930 desired) enters the top 10 despite near-zero current usage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r>
              <a:rPr lang="en-US" dirty="0"/>
              <a:t>Center database training and infrastructure around PostgreSQL</a:t>
            </a:r>
          </a:p>
          <a:p>
            <a:r>
              <a:rPr lang="en-US" dirty="0"/>
              <a:t>Evaluate Supabase for greenfield projects — strong developer enthusiasm</a:t>
            </a:r>
          </a:p>
          <a:p>
            <a:r>
              <a:rPr lang="en-US" dirty="0"/>
              <a:t>Redis and MongoDB growth signals rising demand for non-relational skills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2526193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sz="2400" dirty="0"/>
              <a:t>Three interactive tabs were built in IBM Cognos Analytics to let stakeholders explore the data dynamically — beyond the static charts in this presentation. Each tab isolates a different dimension of the survey: current technology usage, future technology trends, and developer demographics. The dashboard supports drill-down by experience level, country, and employment type</a:t>
            </a:r>
            <a:r>
              <a:rPr sz="18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534806"/>
            <a:ext cx="11087100" cy="646331"/>
          </a:xfrm>
        </p:spPr>
        <p:txBody>
          <a:bodyPr anchor="ctr">
            <a:spAutoFit/>
          </a:bodyPr>
          <a:lstStyle/>
          <a:p>
            <a:r>
              <a:rPr lang="en-US" dirty="0"/>
              <a:t>Current Technology Usage — Key Insights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FEE192-59CE-00D9-97AC-4724C28F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888" y="1455543"/>
            <a:ext cx="7457710" cy="430472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968609-0E40-D9EF-89A6-C252DA3F2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4031" y="5760272"/>
            <a:ext cx="10515600" cy="872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400" b="0" dirty="0"/>
              <a:t>Insight: </a:t>
            </a:r>
            <a:r>
              <a:rPr lang="en-US" sz="1400" b="0" dirty="0"/>
              <a:t>The contemporary development paradigm is defined by web-centric stacks, PostgreSQL database primacy, and AWS-Azure cloud hegemony.</a:t>
            </a:r>
            <a:endParaRPr sz="1400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8801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4031" y="576027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200" b="0" dirty="0"/>
              <a:t>Insight: Python overtakes JavaScript as the #1 desired language — a direct signal of AI and data science adoption. PostgreSQL’s desired count exceeds its current-use count, confirming ecosystem consolidation. Cloud platforms (AWS, Azure) show the fastest growth gap between current and desired use.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8412BF-C0BD-B1D6-12BB-15814C896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556" y="1518676"/>
            <a:ext cx="7055749" cy="40601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328" y="4845814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sz="1400" b="0" dirty="0"/>
          </a:p>
          <a:p>
            <a:pPr marL="0" indent="0">
              <a:buNone/>
            </a:pPr>
            <a:r>
              <a:rPr sz="1400" b="0" dirty="0"/>
              <a:t>Insight: A young, highly educated, globally distributed workforce with strong full-time employment — an ideal talent pipeline for organizations investing in technology upskilling.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5F20F4-C2FB-DFD5-ADDE-63E8D6C35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415" y="1456387"/>
            <a:ext cx="6969083" cy="39452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38C5-C6E0-18EC-2274-643EF138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270C2-B1C3-135D-C44C-9172CA61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CO" dirty="0" err="1"/>
              <a:t>Salary</a:t>
            </a:r>
            <a:r>
              <a:rPr lang="es-CO" dirty="0"/>
              <a:t> &amp; </a:t>
            </a:r>
            <a:r>
              <a:rPr lang="es-CO" dirty="0" err="1"/>
              <a:t>Experience</a:t>
            </a:r>
            <a:r>
              <a:rPr lang="es-CO" dirty="0"/>
              <a:t> </a:t>
            </a:r>
            <a:r>
              <a:rPr lang="es-CO" dirty="0" err="1"/>
              <a:t>Analysis</a:t>
            </a:r>
            <a:br>
              <a:rPr lang="es-CO" b="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DC323-2B5D-344B-18D3-D4C489DA0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5776" y="4037073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sz="1400" b="0" dirty="0"/>
          </a:p>
          <a:p>
            <a:pPr marL="0" indent="0">
              <a:buNone/>
            </a:pPr>
            <a:r>
              <a:rPr sz="1600" b="0" dirty="0"/>
              <a:t>Insight: </a:t>
            </a:r>
            <a:r>
              <a:rPr lang="en-US" sz="1600" b="0" dirty="0"/>
              <a:t>Professional advancement in the technology sector is characterized by a robust positive correlation between career longevity, age-based seniority, and substantial increases in both median annual compensation and perceived job satisfaction.</a:t>
            </a:r>
            <a:endParaRPr sz="1600" b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C3EEB1-C7A7-0E0E-6EC9-F7CDAB943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90" y="1615863"/>
            <a:ext cx="9937820" cy="27280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1107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2493" y="1825625"/>
            <a:ext cx="7652084" cy="455592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sz="1800" b="0" dirty="0" err="1"/>
              <a:t>Paradigmatic</a:t>
            </a:r>
            <a:r>
              <a:rPr lang="es-CO" sz="1800" b="0" dirty="0"/>
              <a:t> Shift: AI-</a:t>
            </a:r>
            <a:r>
              <a:rPr lang="es-CO" sz="1800" b="0" dirty="0" err="1"/>
              <a:t>Driven</a:t>
            </a:r>
            <a:r>
              <a:rPr lang="es-CO" sz="1800" b="0" dirty="0"/>
              <a:t> </a:t>
            </a:r>
            <a:r>
              <a:rPr lang="es-CO" sz="1800" b="0" dirty="0" err="1"/>
              <a:t>WorkflowsThe</a:t>
            </a:r>
            <a:r>
              <a:rPr lang="es-CO" sz="1800" b="0" dirty="0"/>
              <a:t> </a:t>
            </a:r>
            <a:r>
              <a:rPr lang="es-CO" sz="1800" b="0" dirty="0" err="1"/>
              <a:t>development</a:t>
            </a:r>
            <a:r>
              <a:rPr lang="es-CO" sz="1800" b="0" dirty="0"/>
              <a:t> </a:t>
            </a:r>
            <a:r>
              <a:rPr lang="es-CO" sz="1800" b="0" dirty="0" err="1"/>
              <a:t>landscape</a:t>
            </a:r>
            <a:r>
              <a:rPr lang="es-CO" sz="1800" b="0" dirty="0"/>
              <a:t> </a:t>
            </a:r>
            <a:r>
              <a:rPr lang="es-CO" sz="1800" b="0" dirty="0" err="1"/>
              <a:t>is</a:t>
            </a:r>
            <a:r>
              <a:rPr lang="es-CO" sz="1800" b="0" dirty="0"/>
              <a:t> </a:t>
            </a:r>
            <a:r>
              <a:rPr lang="es-CO" sz="1800" b="0" dirty="0" err="1"/>
              <a:t>undergoing</a:t>
            </a:r>
            <a:r>
              <a:rPr lang="es-CO" sz="1800" b="0" dirty="0"/>
              <a:t> a fundamental </a:t>
            </a:r>
            <a:r>
              <a:rPr lang="es-CO" sz="1800" b="0" dirty="0" err="1"/>
              <a:t>transition</a:t>
            </a:r>
            <a:r>
              <a:rPr lang="es-CO" sz="1800" b="0" dirty="0"/>
              <a:t> </a:t>
            </a:r>
            <a:r>
              <a:rPr lang="es-CO" sz="1800" b="0" dirty="0" err="1"/>
              <a:t>from</a:t>
            </a:r>
            <a:r>
              <a:rPr lang="es-CO" sz="1800" b="0" dirty="0"/>
              <a:t> </a:t>
            </a:r>
            <a:r>
              <a:rPr lang="es-CO" sz="1800" b="0" dirty="0" err="1"/>
              <a:t>traditional</a:t>
            </a:r>
            <a:r>
              <a:rPr lang="es-CO" sz="1800" b="0" dirty="0"/>
              <a:t> JavaScript-</a:t>
            </a:r>
            <a:r>
              <a:rPr lang="es-CO" sz="1800" b="0" dirty="0" err="1"/>
              <a:t>centric</a:t>
            </a:r>
            <a:r>
              <a:rPr lang="es-CO" sz="1800" b="0" dirty="0"/>
              <a:t> web </a:t>
            </a:r>
            <a:r>
              <a:rPr lang="es-CO" sz="1800" b="0" dirty="0" err="1"/>
              <a:t>development</a:t>
            </a:r>
            <a:r>
              <a:rPr lang="es-CO" sz="1800" b="0" dirty="0"/>
              <a:t> </a:t>
            </a:r>
            <a:r>
              <a:rPr lang="es-CO" sz="1800" b="0" dirty="0" err="1"/>
              <a:t>toward</a:t>
            </a:r>
            <a:r>
              <a:rPr lang="es-CO" sz="1800" b="0" dirty="0"/>
              <a:t> Python-</a:t>
            </a:r>
            <a:r>
              <a:rPr lang="es-CO" sz="1800" b="0" dirty="0" err="1"/>
              <a:t>integrated</a:t>
            </a:r>
            <a:r>
              <a:rPr lang="es-CO" sz="1800" b="0" dirty="0"/>
              <a:t> AI and Machine </a:t>
            </a:r>
            <a:r>
              <a:rPr lang="es-CO" sz="1800" b="0" dirty="0" err="1"/>
              <a:t>Learning</a:t>
            </a:r>
            <a:r>
              <a:rPr lang="es-CO" sz="1800" b="0" dirty="0"/>
              <a:t> (ML) </a:t>
            </a:r>
            <a:r>
              <a:rPr lang="es-CO" sz="1800" b="0" dirty="0" err="1"/>
              <a:t>architectures</a:t>
            </a:r>
            <a:r>
              <a:rPr lang="es-CO" sz="1800" b="0" dirty="0"/>
              <a:t>. </a:t>
            </a:r>
            <a:r>
              <a:rPr lang="es-CO" sz="1800" b="0" dirty="0" err="1"/>
              <a:t>This</a:t>
            </a:r>
            <a:r>
              <a:rPr lang="es-CO" sz="1800" b="0" dirty="0"/>
              <a:t> shift </a:t>
            </a:r>
            <a:r>
              <a:rPr lang="es-CO" sz="1800" b="0" dirty="0" err="1"/>
              <a:t>is</a:t>
            </a:r>
            <a:r>
              <a:rPr lang="es-CO" sz="1800" b="0" dirty="0"/>
              <a:t> </a:t>
            </a:r>
            <a:r>
              <a:rPr lang="es-CO" sz="1800" b="0" dirty="0" err="1"/>
              <a:t>not</a:t>
            </a:r>
            <a:r>
              <a:rPr lang="es-CO" sz="1800" b="0" dirty="0"/>
              <a:t> </a:t>
            </a:r>
            <a:r>
              <a:rPr lang="es-CO" sz="1800" b="0" dirty="0" err="1"/>
              <a:t>merely</a:t>
            </a:r>
            <a:r>
              <a:rPr lang="es-CO" sz="1800" b="0" dirty="0"/>
              <a:t> </a:t>
            </a:r>
            <a:r>
              <a:rPr lang="es-CO" sz="1800" b="0" dirty="0" err="1"/>
              <a:t>organic</a:t>
            </a:r>
            <a:r>
              <a:rPr lang="es-CO" sz="1800" b="0" dirty="0"/>
              <a:t> </a:t>
            </a:r>
            <a:r>
              <a:rPr lang="es-CO" sz="1800" b="0" dirty="0" err="1"/>
              <a:t>but</a:t>
            </a:r>
            <a:r>
              <a:rPr lang="es-CO" sz="1800" b="0" dirty="0"/>
              <a:t> a </a:t>
            </a:r>
            <a:r>
              <a:rPr lang="es-CO" sz="1800" b="0" dirty="0" err="1"/>
              <a:t>deliberate</a:t>
            </a:r>
            <a:r>
              <a:rPr lang="es-CO" sz="1800" b="0" dirty="0"/>
              <a:t> </a:t>
            </a:r>
            <a:r>
              <a:rPr lang="es-CO" sz="1800" b="0" dirty="0" err="1"/>
              <a:t>ecosystem</a:t>
            </a:r>
            <a:r>
              <a:rPr lang="es-CO" sz="1800" b="0" dirty="0"/>
              <a:t> </a:t>
            </a:r>
            <a:r>
              <a:rPr lang="es-CO" sz="1800" b="0" dirty="0" err="1"/>
              <a:t>realignment</a:t>
            </a:r>
            <a:r>
              <a:rPr lang="es-CO" sz="1800" b="0" dirty="0"/>
              <a:t> </a:t>
            </a:r>
            <a:r>
              <a:rPr lang="es-CO" sz="1800" b="0" dirty="0" err="1"/>
              <a:t>driven</a:t>
            </a:r>
            <a:r>
              <a:rPr lang="es-CO" sz="1800" b="0" dirty="0"/>
              <a:t> </a:t>
            </a:r>
            <a:r>
              <a:rPr lang="es-CO" sz="1800" b="0" dirty="0" err="1"/>
              <a:t>by</a:t>
            </a:r>
            <a:r>
              <a:rPr lang="es-CO" sz="1800" b="0" dirty="0"/>
              <a:t> </a:t>
            </a:r>
            <a:r>
              <a:rPr lang="es-CO" sz="1800" b="0" dirty="0" err="1"/>
              <a:t>Large</a:t>
            </a:r>
            <a:r>
              <a:rPr lang="es-CO" sz="1800" b="0" dirty="0"/>
              <a:t> </a:t>
            </a:r>
            <a:r>
              <a:rPr lang="es-CO" sz="1800" b="0" dirty="0" err="1"/>
              <a:t>Language</a:t>
            </a:r>
            <a:r>
              <a:rPr lang="es-CO" sz="1800" b="0" dirty="0"/>
              <a:t> </a:t>
            </a:r>
            <a:r>
              <a:rPr lang="es-CO" sz="1800" b="0" dirty="0" err="1"/>
              <a:t>Model</a:t>
            </a:r>
            <a:r>
              <a:rPr lang="es-CO" sz="1800" b="0" dirty="0"/>
              <a:t> (LLM) </a:t>
            </a:r>
            <a:r>
              <a:rPr lang="es-CO" sz="1800" b="0" dirty="0" err="1"/>
              <a:t>tooling</a:t>
            </a:r>
            <a:r>
              <a:rPr lang="es-CO" sz="1800" b="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800" b="0" dirty="0" err="1"/>
              <a:t>Infrastructure</a:t>
            </a:r>
            <a:r>
              <a:rPr lang="es-CO" sz="1800" b="0" dirty="0"/>
              <a:t> </a:t>
            </a:r>
            <a:r>
              <a:rPr lang="es-CO" sz="1800" b="0" dirty="0" err="1"/>
              <a:t>Consolidation</a:t>
            </a:r>
            <a:r>
              <a:rPr lang="es-CO" sz="1800" b="0" dirty="0"/>
              <a:t>: PostgreSQL </a:t>
            </a:r>
            <a:r>
              <a:rPr lang="es-CO" sz="1800" b="0" dirty="0" err="1"/>
              <a:t>PrimacyData</a:t>
            </a:r>
            <a:r>
              <a:rPr lang="es-CO" sz="1800" b="0" dirty="0"/>
              <a:t> </a:t>
            </a:r>
            <a:r>
              <a:rPr lang="es-CO" sz="1800" b="0" dirty="0" err="1"/>
              <a:t>infrastructure</a:t>
            </a:r>
            <a:r>
              <a:rPr lang="es-CO" sz="1800" b="0" dirty="0"/>
              <a:t> </a:t>
            </a:r>
            <a:r>
              <a:rPr lang="es-CO" sz="1800" b="0" dirty="0" err="1"/>
              <a:t>is</a:t>
            </a:r>
            <a:r>
              <a:rPr lang="es-CO" sz="1800" b="0" dirty="0"/>
              <a:t> </a:t>
            </a:r>
            <a:r>
              <a:rPr lang="es-CO" sz="1800" b="0" dirty="0" err="1"/>
              <a:t>rapidly</a:t>
            </a:r>
            <a:r>
              <a:rPr lang="es-CO" sz="1800" b="0" dirty="0"/>
              <a:t> </a:t>
            </a:r>
            <a:r>
              <a:rPr lang="es-CO" sz="1800" b="0" dirty="0" err="1"/>
              <a:t>standardizing</a:t>
            </a:r>
            <a:r>
              <a:rPr lang="es-CO" sz="1800" b="0" dirty="0"/>
              <a:t> </a:t>
            </a:r>
            <a:r>
              <a:rPr lang="es-CO" sz="1800" b="0" dirty="0" err="1"/>
              <a:t>around</a:t>
            </a:r>
            <a:r>
              <a:rPr lang="es-CO" sz="1800" b="0" dirty="0"/>
              <a:t> PostgreSQL. </a:t>
            </a:r>
            <a:r>
              <a:rPr lang="es-CO" sz="1800" b="0" dirty="0" err="1"/>
              <a:t>Its</a:t>
            </a:r>
            <a:r>
              <a:rPr lang="es-CO" sz="1800" b="0" dirty="0"/>
              <a:t> </a:t>
            </a:r>
            <a:r>
              <a:rPr lang="es-CO" sz="1800" b="0" dirty="0" err="1"/>
              <a:t>simultaneous</a:t>
            </a:r>
            <a:r>
              <a:rPr lang="es-CO" sz="1800" b="0" dirty="0"/>
              <a:t> </a:t>
            </a:r>
            <a:r>
              <a:rPr lang="es-CO" sz="1800" b="0" dirty="0" err="1"/>
              <a:t>leadership</a:t>
            </a:r>
            <a:r>
              <a:rPr lang="es-CO" sz="1800" b="0" dirty="0"/>
              <a:t> in </a:t>
            </a:r>
            <a:r>
              <a:rPr lang="es-CO" sz="1800" b="0" dirty="0" err="1"/>
              <a:t>current</a:t>
            </a:r>
            <a:r>
              <a:rPr lang="es-CO" sz="1800" b="0" dirty="0"/>
              <a:t> </a:t>
            </a:r>
            <a:r>
              <a:rPr lang="es-CO" sz="1800" b="0" dirty="0" err="1"/>
              <a:t>utilization</a:t>
            </a:r>
            <a:r>
              <a:rPr lang="es-CO" sz="1800" b="0" dirty="0"/>
              <a:t> and </a:t>
            </a:r>
            <a:r>
              <a:rPr lang="es-CO" sz="1800" b="0" dirty="0" err="1"/>
              <a:t>developer</a:t>
            </a:r>
            <a:r>
              <a:rPr lang="es-CO" sz="1800" b="0" dirty="0"/>
              <a:t> </a:t>
            </a:r>
            <a:r>
              <a:rPr lang="es-CO" sz="1800" b="0" dirty="0" err="1"/>
              <a:t>preference</a:t>
            </a:r>
            <a:r>
              <a:rPr lang="es-CO" sz="1800" b="0" dirty="0"/>
              <a:t> </a:t>
            </a:r>
            <a:r>
              <a:rPr lang="es-CO" sz="1800" b="0" dirty="0" err="1"/>
              <a:t>confirms</a:t>
            </a:r>
            <a:r>
              <a:rPr lang="es-CO" sz="1800" b="0" dirty="0"/>
              <a:t> </a:t>
            </a:r>
            <a:r>
              <a:rPr lang="es-CO" sz="1800" b="0" dirty="0" err="1"/>
              <a:t>its</a:t>
            </a:r>
            <a:r>
              <a:rPr lang="es-CO" sz="1800" b="0" dirty="0"/>
              <a:t> status as </a:t>
            </a:r>
            <a:r>
              <a:rPr lang="es-CO" sz="1800" b="0" dirty="0" err="1"/>
              <a:t>the</a:t>
            </a:r>
            <a:r>
              <a:rPr lang="es-CO" sz="1800" b="0" dirty="0"/>
              <a:t> </a:t>
            </a:r>
            <a:r>
              <a:rPr lang="es-CO" sz="1800" b="0" dirty="0" err="1"/>
              <a:t>industry</a:t>
            </a:r>
            <a:r>
              <a:rPr lang="es-CO" sz="1800" b="0" dirty="0"/>
              <a:t>-standard </a:t>
            </a:r>
            <a:r>
              <a:rPr lang="es-CO" sz="1800" b="0" dirty="0" err="1"/>
              <a:t>relational</a:t>
            </a:r>
            <a:r>
              <a:rPr lang="es-CO" sz="1800" b="0" dirty="0"/>
              <a:t> </a:t>
            </a:r>
            <a:r>
              <a:rPr lang="es-CO" sz="1800" b="0" dirty="0" err="1"/>
              <a:t>database</a:t>
            </a:r>
            <a:r>
              <a:rPr lang="es-CO" sz="1800" b="0" dirty="0"/>
              <a:t> for </a:t>
            </a:r>
            <a:r>
              <a:rPr lang="es-CO" sz="1800" b="0" dirty="0" err="1"/>
              <a:t>modern</a:t>
            </a:r>
            <a:r>
              <a:rPr lang="es-CO" sz="1800" b="0" dirty="0"/>
              <a:t> </a:t>
            </a:r>
            <a:r>
              <a:rPr lang="es-CO" sz="1800" b="0" dirty="0" err="1"/>
              <a:t>applications</a:t>
            </a:r>
            <a:r>
              <a:rPr lang="es-CO" sz="1800" b="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800" b="0" dirty="0" err="1"/>
              <a:t>Workplace</a:t>
            </a:r>
            <a:r>
              <a:rPr lang="es-CO" sz="1800" b="0" dirty="0"/>
              <a:t> Dynamics: </a:t>
            </a:r>
            <a:r>
              <a:rPr lang="es-CO" sz="1800" b="0" dirty="0" err="1"/>
              <a:t>The</a:t>
            </a:r>
            <a:r>
              <a:rPr lang="es-CO" sz="1800" b="0" dirty="0"/>
              <a:t> </a:t>
            </a:r>
            <a:r>
              <a:rPr lang="es-CO" sz="1800" b="0" dirty="0" err="1"/>
              <a:t>Hybrid</a:t>
            </a:r>
            <a:r>
              <a:rPr lang="es-CO" sz="1800" b="0" dirty="0"/>
              <a:t> </a:t>
            </a:r>
            <a:r>
              <a:rPr lang="es-CO" sz="1800" b="0" dirty="0" err="1"/>
              <a:t>ImperativeHybrid</a:t>
            </a:r>
            <a:r>
              <a:rPr lang="es-CO" sz="1800" b="0" dirty="0"/>
              <a:t> </a:t>
            </a:r>
            <a:r>
              <a:rPr lang="es-CO" sz="1800" b="0" dirty="0" err="1"/>
              <a:t>work</a:t>
            </a:r>
            <a:r>
              <a:rPr lang="es-CO" sz="1800" b="0" dirty="0"/>
              <a:t> has </a:t>
            </a:r>
            <a:r>
              <a:rPr lang="es-CO" sz="1800" b="0" dirty="0" err="1"/>
              <a:t>transitioned</a:t>
            </a:r>
            <a:r>
              <a:rPr lang="es-CO" sz="1800" b="0" dirty="0"/>
              <a:t> </a:t>
            </a:r>
            <a:r>
              <a:rPr lang="es-CO" sz="1800" b="0" dirty="0" err="1"/>
              <a:t>from</a:t>
            </a:r>
            <a:r>
              <a:rPr lang="es-CO" sz="1800" b="0" dirty="0"/>
              <a:t> a </a:t>
            </a:r>
            <a:r>
              <a:rPr lang="es-CO" sz="1800" b="0" dirty="0" err="1"/>
              <a:t>professional</a:t>
            </a:r>
            <a:r>
              <a:rPr lang="es-CO" sz="1800" b="0" dirty="0"/>
              <a:t> </a:t>
            </a:r>
            <a:r>
              <a:rPr lang="es-CO" sz="1800" b="0" dirty="0" err="1"/>
              <a:t>perk</a:t>
            </a:r>
            <a:r>
              <a:rPr lang="es-CO" sz="1800" b="0" dirty="0"/>
              <a:t> </a:t>
            </a:r>
            <a:r>
              <a:rPr lang="es-CO" sz="1800" b="0" dirty="0" err="1"/>
              <a:t>to</a:t>
            </a:r>
            <a:r>
              <a:rPr lang="es-CO" sz="1800" b="0" dirty="0"/>
              <a:t> a </a:t>
            </a:r>
            <a:r>
              <a:rPr lang="es-CO" sz="1800" b="0" dirty="0" err="1"/>
              <a:t>baseline</a:t>
            </a:r>
            <a:r>
              <a:rPr lang="es-CO" sz="1800" b="0" dirty="0"/>
              <a:t> </a:t>
            </a:r>
            <a:r>
              <a:rPr lang="es-CO" sz="1800" b="0" dirty="0" err="1"/>
              <a:t>hygiene</a:t>
            </a:r>
            <a:r>
              <a:rPr lang="es-CO" sz="1800" b="0" dirty="0"/>
              <a:t> factor. </a:t>
            </a:r>
            <a:r>
              <a:rPr lang="es-CO" sz="1800" b="0" dirty="0" err="1"/>
              <a:t>Quantitative</a:t>
            </a:r>
            <a:r>
              <a:rPr lang="es-CO" sz="1800" b="0" dirty="0"/>
              <a:t> data </a:t>
            </a:r>
            <a:r>
              <a:rPr lang="es-CO" sz="1800" b="0" dirty="0" err="1"/>
              <a:t>indicates</a:t>
            </a:r>
            <a:r>
              <a:rPr lang="es-CO" sz="1800" b="0" dirty="0"/>
              <a:t> </a:t>
            </a:r>
            <a:r>
              <a:rPr lang="es-CO" sz="1800" b="0" dirty="0" err="1"/>
              <a:t>higher</a:t>
            </a:r>
            <a:r>
              <a:rPr lang="es-CO" sz="1800" b="0" dirty="0"/>
              <a:t> </a:t>
            </a:r>
            <a:r>
              <a:rPr lang="es-CO" sz="1800" b="0" dirty="0" err="1"/>
              <a:t>satisfaction</a:t>
            </a:r>
            <a:r>
              <a:rPr lang="es-CO" sz="1800" b="0" dirty="0"/>
              <a:t> </a:t>
            </a:r>
            <a:r>
              <a:rPr lang="es-CO" sz="1800" b="0" dirty="0" err="1"/>
              <a:t>levels</a:t>
            </a:r>
            <a:r>
              <a:rPr lang="es-CO" sz="1800" b="0" dirty="0"/>
              <a:t> </a:t>
            </a:r>
            <a:r>
              <a:rPr lang="es-CO" sz="1800" b="0" dirty="0" err="1"/>
              <a:t>among</a:t>
            </a:r>
            <a:r>
              <a:rPr lang="es-CO" sz="1800" b="0" dirty="0"/>
              <a:t> </a:t>
            </a:r>
            <a:r>
              <a:rPr lang="es-CO" sz="1800" b="0" dirty="0" err="1"/>
              <a:t>hybrid</a:t>
            </a:r>
            <a:r>
              <a:rPr lang="es-CO" sz="1800" b="0" dirty="0"/>
              <a:t> </a:t>
            </a:r>
            <a:r>
              <a:rPr lang="es-CO" sz="1800" b="0" dirty="0" err="1"/>
              <a:t>developers</a:t>
            </a:r>
            <a:r>
              <a:rPr lang="es-CO" sz="1800" b="0" dirty="0"/>
              <a:t>, </a:t>
            </a:r>
            <a:r>
              <a:rPr lang="es-CO" sz="1800" b="0" dirty="0" err="1"/>
              <a:t>signaling</a:t>
            </a:r>
            <a:r>
              <a:rPr lang="es-CO" sz="1800" b="0" dirty="0"/>
              <a:t> </a:t>
            </a:r>
            <a:r>
              <a:rPr lang="es-CO" sz="1800" b="0" dirty="0" err="1"/>
              <a:t>that</a:t>
            </a:r>
            <a:r>
              <a:rPr lang="es-CO" sz="1800" b="0" dirty="0"/>
              <a:t> </a:t>
            </a:r>
            <a:r>
              <a:rPr lang="es-CO" sz="1800" b="0" dirty="0" err="1"/>
              <a:t>geographic</a:t>
            </a:r>
            <a:r>
              <a:rPr lang="es-CO" sz="1800" b="0" dirty="0"/>
              <a:t> </a:t>
            </a:r>
            <a:r>
              <a:rPr lang="es-CO" sz="1800" b="0" dirty="0" err="1"/>
              <a:t>flexibility</a:t>
            </a:r>
            <a:r>
              <a:rPr lang="es-CO" sz="1800" b="0" dirty="0"/>
              <a:t> </a:t>
            </a:r>
            <a:r>
              <a:rPr lang="es-CO" sz="1800" b="0" dirty="0" err="1"/>
              <a:t>is</a:t>
            </a:r>
            <a:r>
              <a:rPr lang="es-CO" sz="1800" b="0" dirty="0"/>
              <a:t> </a:t>
            </a:r>
            <a:r>
              <a:rPr lang="es-CO" sz="1800" b="0" dirty="0" err="1"/>
              <a:t>now</a:t>
            </a:r>
            <a:r>
              <a:rPr lang="es-CO" sz="1800" b="0" dirty="0"/>
              <a:t> a </a:t>
            </a:r>
            <a:r>
              <a:rPr lang="es-CO" sz="1800" b="0" dirty="0" err="1"/>
              <a:t>critical</a:t>
            </a:r>
            <a:r>
              <a:rPr lang="es-CO" sz="1800" b="0" dirty="0"/>
              <a:t> </a:t>
            </a:r>
            <a:r>
              <a:rPr lang="es-CO" sz="1800" b="0" dirty="0" err="1"/>
              <a:t>requirement</a:t>
            </a:r>
            <a:r>
              <a:rPr lang="es-CO" sz="1800" b="0" dirty="0"/>
              <a:t> for </a:t>
            </a:r>
            <a:r>
              <a:rPr lang="es-CO" sz="1800" b="0" dirty="0" err="1"/>
              <a:t>talent</a:t>
            </a:r>
            <a:r>
              <a:rPr lang="es-CO" sz="1800" b="0" dirty="0"/>
              <a:t> </a:t>
            </a:r>
            <a:r>
              <a:rPr lang="es-CO" sz="1800" b="0" dirty="0" err="1"/>
              <a:t>retention</a:t>
            </a:r>
            <a:r>
              <a:rPr lang="es-CO" sz="1800" b="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800" b="0" dirty="0" err="1"/>
              <a:t>Strategic</a:t>
            </a:r>
            <a:r>
              <a:rPr lang="es-CO" sz="1800" b="0" dirty="0"/>
              <a:t> Gap: Cloud </a:t>
            </a:r>
            <a:r>
              <a:rPr lang="es-CO" sz="1800" b="0" dirty="0" err="1"/>
              <a:t>Proficiency</a:t>
            </a:r>
            <a:r>
              <a:rPr lang="es-CO" sz="1800" b="0" dirty="0"/>
              <a:t> </a:t>
            </a:r>
            <a:r>
              <a:rPr lang="es-CO" sz="1800" b="0" dirty="0" err="1"/>
              <a:t>MisalignmentA</a:t>
            </a:r>
            <a:r>
              <a:rPr lang="es-CO" sz="1800" b="0" dirty="0"/>
              <a:t> </a:t>
            </a:r>
            <a:r>
              <a:rPr lang="es-CO" sz="1800" b="0" dirty="0" err="1"/>
              <a:t>significant</a:t>
            </a:r>
            <a:r>
              <a:rPr lang="es-CO" sz="1800" b="0" dirty="0"/>
              <a:t> </a:t>
            </a:r>
            <a:r>
              <a:rPr lang="es-CO" sz="1800" b="0" dirty="0" err="1"/>
              <a:t>market</a:t>
            </a:r>
            <a:r>
              <a:rPr lang="es-CO" sz="1800" b="0" dirty="0"/>
              <a:t> </a:t>
            </a:r>
            <a:r>
              <a:rPr lang="es-CO" sz="1800" b="0" dirty="0" err="1"/>
              <a:t>discrepancy</a:t>
            </a:r>
            <a:r>
              <a:rPr lang="es-CO" sz="1800" b="0" dirty="0"/>
              <a:t> </a:t>
            </a:r>
            <a:r>
              <a:rPr lang="es-CO" sz="1800" b="0" dirty="0" err="1"/>
              <a:t>exists</a:t>
            </a:r>
            <a:r>
              <a:rPr lang="es-CO" sz="1800" b="0" dirty="0"/>
              <a:t> </a:t>
            </a:r>
            <a:r>
              <a:rPr lang="es-CO" sz="1800" b="0" dirty="0" err="1"/>
              <a:t>between</a:t>
            </a:r>
            <a:r>
              <a:rPr lang="es-CO" sz="1800" b="0" dirty="0"/>
              <a:t> </a:t>
            </a:r>
            <a:r>
              <a:rPr lang="es-CO" sz="1800" b="0" dirty="0" err="1"/>
              <a:t>employer</a:t>
            </a:r>
            <a:r>
              <a:rPr lang="es-CO" sz="1800" b="0" dirty="0"/>
              <a:t> </a:t>
            </a:r>
            <a:r>
              <a:rPr lang="es-CO" sz="1800" b="0" dirty="0" err="1"/>
              <a:t>requirements</a:t>
            </a:r>
            <a:r>
              <a:rPr lang="es-CO" sz="1800" b="0" dirty="0"/>
              <a:t> for </a:t>
            </a:r>
            <a:r>
              <a:rPr lang="es-CO" sz="1800" b="0" dirty="0" err="1"/>
              <a:t>cloud</a:t>
            </a:r>
            <a:r>
              <a:rPr lang="es-CO" sz="1800" b="0" dirty="0"/>
              <a:t> </a:t>
            </a:r>
            <a:r>
              <a:rPr lang="es-CO" sz="1800" b="0" dirty="0" err="1"/>
              <a:t>platforms</a:t>
            </a:r>
            <a:r>
              <a:rPr lang="es-CO" sz="1800" b="0" dirty="0"/>
              <a:t> (AWS, Azure) and </a:t>
            </a:r>
            <a:r>
              <a:rPr lang="es-CO" sz="1800" b="0" dirty="0" err="1"/>
              <a:t>developer</a:t>
            </a:r>
            <a:r>
              <a:rPr lang="es-CO" sz="1800" b="0" dirty="0"/>
              <a:t> </a:t>
            </a:r>
            <a:r>
              <a:rPr lang="es-CO" sz="1800" b="0" dirty="0" err="1"/>
              <a:t>learning</a:t>
            </a:r>
            <a:r>
              <a:rPr lang="es-CO" sz="1800" b="0" dirty="0"/>
              <a:t> </a:t>
            </a:r>
            <a:r>
              <a:rPr lang="es-CO" sz="1800" b="0" dirty="0" err="1"/>
              <a:t>interests</a:t>
            </a:r>
            <a:r>
              <a:rPr lang="es-CO" sz="1800" b="0" dirty="0"/>
              <a:t>. </a:t>
            </a:r>
            <a:r>
              <a:rPr lang="es-CO" sz="1800" b="0" dirty="0" err="1"/>
              <a:t>Organizations</a:t>
            </a:r>
            <a:r>
              <a:rPr lang="es-CO" sz="1800" b="0" dirty="0"/>
              <a:t> </a:t>
            </a:r>
            <a:r>
              <a:rPr lang="es-CO" sz="1800" b="0" dirty="0" err="1"/>
              <a:t>that</a:t>
            </a:r>
            <a:r>
              <a:rPr lang="es-CO" sz="1800" b="0" dirty="0"/>
              <a:t> </a:t>
            </a:r>
            <a:r>
              <a:rPr lang="es-CO" sz="1800" b="0" dirty="0" err="1"/>
              <a:t>prioritize</a:t>
            </a:r>
            <a:r>
              <a:rPr lang="es-CO" sz="1800" b="0" dirty="0"/>
              <a:t> </a:t>
            </a:r>
            <a:r>
              <a:rPr lang="es-CO" sz="1800" b="0" dirty="0" err="1"/>
              <a:t>internal</a:t>
            </a:r>
            <a:r>
              <a:rPr lang="es-CO" sz="1800" b="0" dirty="0"/>
              <a:t> </a:t>
            </a:r>
            <a:r>
              <a:rPr lang="es-CO" sz="1800" b="0" dirty="0" err="1"/>
              <a:t>upskilling</a:t>
            </a:r>
            <a:r>
              <a:rPr lang="es-CO" sz="1800" b="0" dirty="0"/>
              <a:t> in </a:t>
            </a:r>
            <a:r>
              <a:rPr lang="es-CO" sz="1800" b="0" dirty="0" err="1"/>
              <a:t>these</a:t>
            </a:r>
            <a:r>
              <a:rPr lang="es-CO" sz="1800" b="0" dirty="0"/>
              <a:t> </a:t>
            </a:r>
            <a:r>
              <a:rPr lang="es-CO" sz="1800" b="0" dirty="0" err="1"/>
              <a:t>areas</a:t>
            </a:r>
            <a:r>
              <a:rPr lang="es-CO" sz="1800" b="0" dirty="0"/>
              <a:t> </a:t>
            </a:r>
            <a:r>
              <a:rPr lang="es-CO" sz="1800" b="0" dirty="0" err="1"/>
              <a:t>will</a:t>
            </a:r>
            <a:r>
              <a:rPr lang="es-CO" sz="1800" b="0" dirty="0"/>
              <a:t> </a:t>
            </a:r>
            <a:r>
              <a:rPr lang="es-CO" sz="1800" b="0" dirty="0" err="1"/>
              <a:t>secure</a:t>
            </a:r>
            <a:r>
              <a:rPr lang="es-CO" sz="1800" b="0" dirty="0"/>
              <a:t> a </a:t>
            </a:r>
            <a:r>
              <a:rPr lang="es-CO" sz="1800" b="0" dirty="0" err="1"/>
              <a:t>distinct</a:t>
            </a:r>
            <a:r>
              <a:rPr lang="es-CO" sz="1800" b="0" dirty="0"/>
              <a:t> competitive </a:t>
            </a:r>
            <a:r>
              <a:rPr lang="es-CO" sz="1800" b="0" dirty="0" err="1"/>
              <a:t>advantage</a:t>
            </a:r>
            <a:r>
              <a:rPr lang="es-CO" sz="1800" b="0" dirty="0"/>
              <a:t>.</a:t>
            </a:r>
            <a:endParaRPr sz="1800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r>
              <a:rPr lang="en-US" dirty="0"/>
              <a:t>Python overtook JavaScript as the #1 desired language — AI demand is the driver</a:t>
            </a:r>
          </a:p>
          <a:p>
            <a:r>
              <a:rPr lang="en-US" dirty="0"/>
              <a:t>PostgreSQL is the undisputed database standard, current and future</a:t>
            </a:r>
          </a:p>
          <a:p>
            <a:r>
              <a:rPr lang="en-US" dirty="0"/>
              <a:t>Median salary $65,000 · Job satisfaction 6.9/10 · 42% prefer hybrid 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r>
              <a:rPr lang="en-US" dirty="0"/>
              <a:t>Invest in Python and data science training as a core workforce development strategy</a:t>
            </a:r>
          </a:p>
          <a:p>
            <a:r>
              <a:rPr lang="en-US" dirty="0"/>
              <a:t>Standardize on PostgreSQL; monitor Supabase and Redis for emerging needs</a:t>
            </a:r>
          </a:p>
          <a:p>
            <a:r>
              <a:rPr lang="en-US" dirty="0"/>
              <a:t>Design retention packages beyond salary: remote flexibility and learning budgets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Python and PostgreSQL define the 2026 developer technology landscape</a:t>
            </a:r>
          </a:p>
          <a:p>
            <a:r>
              <a:rPr lang="en-US" dirty="0"/>
              <a:t>A young (25–34), Bachelor's-educated workforce presents both hiring opportunity and upskilling demand</a:t>
            </a:r>
          </a:p>
          <a:p>
            <a:r>
              <a:rPr lang="en-US" dirty="0"/>
              <a:t>Developer satisfaction is driven by culture and flexibility — not salary alone</a:t>
            </a:r>
          </a:p>
          <a:p>
            <a:r>
              <a:rPr lang="en-US" dirty="0"/>
              <a:t>Data-driven investment in Python, PostgreSQL, and hybrid work policies will be key competitive advantages for 2026 and beyond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200" b="1" dirty="0"/>
              <a:t>PIPELINE</a:t>
            </a:r>
          </a:p>
          <a:p>
            <a:r>
              <a:rPr lang="es-CO" sz="1200" b="1" dirty="0"/>
              <a:t>I. Data </a:t>
            </a:r>
            <a:r>
              <a:rPr lang="es-CO" sz="1200" b="1" dirty="0" err="1"/>
              <a:t>Preprocessing</a:t>
            </a:r>
            <a:r>
              <a:rPr lang="es-CO" sz="1200" b="1" dirty="0"/>
              <a:t> &amp; </a:t>
            </a:r>
            <a:r>
              <a:rPr lang="es-CO" sz="1200" b="1" dirty="0" err="1"/>
              <a:t>Quality</a:t>
            </a:r>
            <a:endParaRPr lang="es-CO" sz="1200" dirty="0"/>
          </a:p>
          <a:p>
            <a:pPr marL="0" indent="0">
              <a:buNone/>
            </a:pPr>
            <a:r>
              <a:rPr lang="es-CO" sz="1200" b="1" dirty="0" err="1"/>
              <a:t>Dataset</a:t>
            </a:r>
            <a:r>
              <a:rPr lang="es-CO" sz="1200" b="1" dirty="0"/>
              <a:t> </a:t>
            </a:r>
            <a:r>
              <a:rPr lang="es-CO" sz="1200" b="1" dirty="0" err="1"/>
              <a:t>Optimization</a:t>
            </a:r>
            <a:r>
              <a:rPr lang="es-CO" sz="1200" b="1" dirty="0"/>
              <a:t>:</a:t>
            </a:r>
            <a:r>
              <a:rPr lang="es-CO" sz="1200" dirty="0"/>
              <a:t> </a:t>
            </a:r>
            <a:r>
              <a:rPr lang="es-CO" sz="1200" dirty="0" err="1"/>
              <a:t>Refined</a:t>
            </a:r>
            <a:r>
              <a:rPr lang="es-CO" sz="1200" dirty="0"/>
              <a:t> </a:t>
            </a:r>
            <a:r>
              <a:rPr lang="es-CO" sz="1200" dirty="0" err="1"/>
              <a:t>from</a:t>
            </a:r>
            <a:r>
              <a:rPr lang="es-CO" sz="1200" dirty="0"/>
              <a:t> 65,437 </a:t>
            </a:r>
            <a:r>
              <a:rPr lang="es-CO" sz="1200" dirty="0" err="1"/>
              <a:t>to</a:t>
            </a:r>
            <a:r>
              <a:rPr lang="es-CO" sz="1200" dirty="0"/>
              <a:t> </a:t>
            </a:r>
            <a:r>
              <a:rPr lang="es-CO" sz="1200" b="1" dirty="0"/>
              <a:t>63,972 </a:t>
            </a:r>
            <a:r>
              <a:rPr lang="es-CO" sz="1200" b="1" dirty="0" err="1"/>
              <a:t>observations</a:t>
            </a:r>
            <a:r>
              <a:rPr lang="es-CO" sz="1200" dirty="0"/>
              <a:t> </a:t>
            </a:r>
            <a:r>
              <a:rPr lang="es-CO" sz="1200" dirty="0" err="1"/>
              <a:t>across</a:t>
            </a:r>
            <a:r>
              <a:rPr lang="es-CO" sz="1200" dirty="0"/>
              <a:t> 118 </a:t>
            </a:r>
            <a:r>
              <a:rPr lang="es-CO" sz="1200" dirty="0" err="1"/>
              <a:t>features</a:t>
            </a:r>
            <a:r>
              <a:rPr lang="es-CO" sz="1200" dirty="0"/>
              <a:t> (</a:t>
            </a:r>
            <a:r>
              <a:rPr lang="es-CO" sz="1200" dirty="0" err="1"/>
              <a:t>with</a:t>
            </a:r>
            <a:r>
              <a:rPr lang="es-CO" sz="1200" dirty="0"/>
              <a:t> </a:t>
            </a:r>
            <a:r>
              <a:rPr lang="es-CO" sz="1200" dirty="0" err="1"/>
              <a:t>outlier</a:t>
            </a:r>
            <a:r>
              <a:rPr lang="es-CO" sz="1200" dirty="0"/>
              <a:t> </a:t>
            </a:r>
            <a:r>
              <a:rPr lang="es-CO" sz="1200" dirty="0" err="1"/>
              <a:t>removal</a:t>
            </a:r>
            <a:r>
              <a:rPr lang="es-CO" sz="1200" dirty="0"/>
              <a:t>).</a:t>
            </a:r>
          </a:p>
          <a:p>
            <a:pPr marL="0" indent="0">
              <a:buNone/>
            </a:pPr>
            <a:r>
              <a:rPr lang="es-CO" sz="1200" b="1" dirty="0" err="1"/>
              <a:t>Integrity</a:t>
            </a:r>
            <a:r>
              <a:rPr lang="es-CO" sz="1200" b="1" dirty="0"/>
              <a:t> </a:t>
            </a:r>
            <a:r>
              <a:rPr lang="es-CO" sz="1200" b="1" dirty="0" err="1"/>
              <a:t>Measures</a:t>
            </a:r>
            <a:r>
              <a:rPr lang="es-CO" sz="1200" b="1" dirty="0"/>
              <a:t>:</a:t>
            </a:r>
            <a:r>
              <a:rPr lang="es-CO" sz="1200" dirty="0"/>
              <a:t> </a:t>
            </a:r>
            <a:r>
              <a:rPr lang="es-CO" sz="1200" dirty="0" err="1"/>
              <a:t>Executed</a:t>
            </a:r>
            <a:r>
              <a:rPr lang="es-CO" sz="1200" dirty="0"/>
              <a:t> </a:t>
            </a:r>
            <a:r>
              <a:rPr lang="es-CO" sz="1200" dirty="0" err="1"/>
              <a:t>deduplication</a:t>
            </a:r>
            <a:r>
              <a:rPr lang="es-CO" sz="1200" dirty="0"/>
              <a:t> (0.74% </a:t>
            </a:r>
            <a:r>
              <a:rPr lang="es-CO" sz="1200" dirty="0" err="1"/>
              <a:t>reduction</a:t>
            </a:r>
            <a:r>
              <a:rPr lang="es-CO" sz="1200" dirty="0"/>
              <a:t>) and IQR-</a:t>
            </a:r>
            <a:r>
              <a:rPr lang="es-CO" sz="1200" dirty="0" err="1"/>
              <a:t>based</a:t>
            </a:r>
            <a:r>
              <a:rPr lang="es-CO" sz="1200" dirty="0"/>
              <a:t> </a:t>
            </a:r>
            <a:r>
              <a:rPr lang="es-CO" sz="1200" dirty="0" err="1"/>
              <a:t>outlier</a:t>
            </a:r>
            <a:r>
              <a:rPr lang="es-CO" sz="1200" dirty="0"/>
              <a:t> </a:t>
            </a:r>
            <a:r>
              <a:rPr lang="es-CO" sz="1200" dirty="0" err="1"/>
              <a:t>mitigation</a:t>
            </a:r>
            <a:r>
              <a:rPr lang="es-CO" sz="1200" dirty="0"/>
              <a:t> (1.5% </a:t>
            </a:r>
            <a:r>
              <a:rPr lang="es-CO" sz="1200" dirty="0" err="1"/>
              <a:t>reduction</a:t>
            </a:r>
            <a:r>
              <a:rPr lang="es-CO" sz="1200" dirty="0"/>
              <a:t>) </a:t>
            </a:r>
            <a:r>
              <a:rPr lang="es-CO" sz="1200" dirty="0" err="1"/>
              <a:t>to</a:t>
            </a:r>
            <a:r>
              <a:rPr lang="es-CO" sz="1200" dirty="0"/>
              <a:t> </a:t>
            </a:r>
            <a:r>
              <a:rPr lang="es-CO" sz="1200" dirty="0" err="1"/>
              <a:t>ensure</a:t>
            </a:r>
            <a:r>
              <a:rPr lang="es-CO" sz="1200" dirty="0"/>
              <a:t> </a:t>
            </a:r>
            <a:r>
              <a:rPr lang="es-CO" sz="1200" dirty="0" err="1"/>
              <a:t>statistical</a:t>
            </a:r>
            <a:r>
              <a:rPr lang="es-CO" sz="1200" dirty="0"/>
              <a:t> </a:t>
            </a:r>
            <a:r>
              <a:rPr lang="es-CO" sz="1200" dirty="0" err="1"/>
              <a:t>validity</a:t>
            </a:r>
            <a:r>
              <a:rPr lang="es-CO" sz="1200" dirty="0"/>
              <a:t>.</a:t>
            </a:r>
          </a:p>
          <a:p>
            <a:r>
              <a:rPr lang="es-CO" sz="1200" b="1" dirty="0"/>
              <a:t>II. </a:t>
            </a:r>
            <a:r>
              <a:rPr lang="es-CO" sz="1200" b="1" dirty="0" err="1"/>
              <a:t>Quantitative</a:t>
            </a:r>
            <a:r>
              <a:rPr lang="es-CO" sz="1200" b="1" dirty="0"/>
              <a:t> </a:t>
            </a:r>
            <a:r>
              <a:rPr lang="es-CO" sz="1200" b="1" dirty="0" err="1"/>
              <a:t>Salary</a:t>
            </a:r>
            <a:r>
              <a:rPr lang="es-CO" sz="1200" b="1" dirty="0"/>
              <a:t> </a:t>
            </a:r>
            <a:r>
              <a:rPr lang="es-CO" sz="1200" b="1" dirty="0" err="1"/>
              <a:t>Insights</a:t>
            </a:r>
            <a:r>
              <a:rPr lang="es-CO" sz="1200" b="1" dirty="0"/>
              <a:t> (USD)</a:t>
            </a:r>
            <a:endParaRPr lang="es-CO" sz="1200" dirty="0"/>
          </a:p>
          <a:p>
            <a:pPr marL="0" indent="0">
              <a:buNone/>
            </a:pPr>
            <a:r>
              <a:rPr lang="es-CO" sz="1200" b="1" dirty="0"/>
              <a:t>Central </a:t>
            </a:r>
            <a:r>
              <a:rPr lang="es-CO" sz="1200" b="1" dirty="0" err="1"/>
              <a:t>Tendency</a:t>
            </a:r>
            <a:r>
              <a:rPr lang="es-CO" sz="1200" b="1" dirty="0"/>
              <a:t>:</a:t>
            </a:r>
            <a:r>
              <a:rPr lang="es-CO" sz="1200" dirty="0"/>
              <a:t> Median: </a:t>
            </a:r>
            <a:r>
              <a:rPr lang="es-CO" sz="1200" b="1" dirty="0"/>
              <a:t>$65,000</a:t>
            </a:r>
            <a:r>
              <a:rPr lang="es-CO" sz="1200" dirty="0"/>
              <a:t> | Mean: </a:t>
            </a:r>
            <a:r>
              <a:rPr lang="es-CO" sz="1200" b="1" dirty="0"/>
              <a:t>$72,000</a:t>
            </a:r>
            <a:r>
              <a:rPr lang="es-CO" sz="1200" dirty="0"/>
              <a:t>.</a:t>
            </a:r>
          </a:p>
          <a:p>
            <a:pPr marL="0" indent="0">
              <a:buNone/>
            </a:pPr>
            <a:r>
              <a:rPr lang="es-CO" sz="1200" b="1" dirty="0" err="1"/>
              <a:t>Distribution</a:t>
            </a:r>
            <a:r>
              <a:rPr lang="es-CO" sz="1200" b="1" dirty="0"/>
              <a:t>:</a:t>
            </a:r>
            <a:r>
              <a:rPr lang="es-CO" sz="1200" dirty="0"/>
              <a:t> </a:t>
            </a:r>
            <a:r>
              <a:rPr lang="es-CO" sz="1200" dirty="0" err="1"/>
              <a:t>Interquartile</a:t>
            </a:r>
            <a:r>
              <a:rPr lang="es-CO" sz="1200" dirty="0"/>
              <a:t> </a:t>
            </a:r>
            <a:r>
              <a:rPr lang="es-CO" sz="1200" dirty="0" err="1"/>
              <a:t>Range</a:t>
            </a:r>
            <a:r>
              <a:rPr lang="es-CO" sz="1200" dirty="0"/>
              <a:t> (IQR) </a:t>
            </a:r>
            <a:r>
              <a:rPr lang="es-CO" sz="1200" dirty="0" err="1"/>
              <a:t>of</a:t>
            </a:r>
            <a:r>
              <a:rPr lang="es-CO" sz="1200" dirty="0"/>
              <a:t> </a:t>
            </a:r>
            <a:r>
              <a:rPr lang="es-CO" sz="1200" b="1" dirty="0"/>
              <a:t>$32,712 – $107,972</a:t>
            </a:r>
            <a:r>
              <a:rPr lang="es-CO" sz="1200" dirty="0"/>
              <a:t>, </a:t>
            </a:r>
            <a:r>
              <a:rPr lang="es-CO" sz="1200" dirty="0" err="1"/>
              <a:t>with</a:t>
            </a:r>
            <a:r>
              <a:rPr lang="es-CO" sz="1200" dirty="0"/>
              <a:t> </a:t>
            </a:r>
            <a:r>
              <a:rPr lang="es-CO" sz="1200" dirty="0" err="1"/>
              <a:t>an</a:t>
            </a:r>
            <a:r>
              <a:rPr lang="es-CO" sz="1200" dirty="0"/>
              <a:t> </a:t>
            </a:r>
            <a:r>
              <a:rPr lang="es-CO" sz="1200" dirty="0" err="1"/>
              <a:t>upper</a:t>
            </a:r>
            <a:r>
              <a:rPr lang="es-CO" sz="1200" dirty="0"/>
              <a:t> </a:t>
            </a:r>
            <a:r>
              <a:rPr lang="es-CO" sz="1200" dirty="0" err="1"/>
              <a:t>fence</a:t>
            </a:r>
            <a:r>
              <a:rPr lang="es-CO" sz="1200" dirty="0"/>
              <a:t> </a:t>
            </a:r>
            <a:r>
              <a:rPr lang="es-CO" sz="1200" dirty="0" err="1"/>
              <a:t>established</a:t>
            </a:r>
            <a:r>
              <a:rPr lang="es-CO" sz="1200" dirty="0"/>
              <a:t> at $220,861.</a:t>
            </a:r>
          </a:p>
          <a:p>
            <a:pPr marL="0" indent="0">
              <a:buNone/>
            </a:pPr>
            <a:r>
              <a:rPr lang="es-CO" sz="1200" b="1" dirty="0" err="1"/>
              <a:t>Normalization</a:t>
            </a:r>
            <a:r>
              <a:rPr lang="es-CO" sz="1200" b="1" dirty="0"/>
              <a:t>:</a:t>
            </a:r>
            <a:r>
              <a:rPr lang="es-CO" sz="1200" dirty="0"/>
              <a:t> Data </a:t>
            </a:r>
            <a:r>
              <a:rPr lang="es-CO" sz="1200" dirty="0" err="1"/>
              <a:t>scaled</a:t>
            </a:r>
            <a:r>
              <a:rPr lang="es-CO" sz="1200" dirty="0"/>
              <a:t> </a:t>
            </a:r>
            <a:r>
              <a:rPr lang="es-CO" sz="1200" dirty="0" err="1"/>
              <a:t>via</a:t>
            </a:r>
            <a:r>
              <a:rPr lang="es-CO" sz="1200" dirty="0"/>
              <a:t> Min-Max [0,1] and Z-score </a:t>
            </a:r>
            <a:r>
              <a:rPr lang="es-CO" sz="1200" dirty="0" err="1"/>
              <a:t>methods</a:t>
            </a:r>
            <a:r>
              <a:rPr lang="es-CO" sz="1200" dirty="0"/>
              <a:t> for </a:t>
            </a:r>
            <a:r>
              <a:rPr lang="es-CO" sz="1200" dirty="0" err="1"/>
              <a:t>algorithmic</a:t>
            </a:r>
            <a:r>
              <a:rPr lang="es-CO" sz="1200" dirty="0"/>
              <a:t> </a:t>
            </a:r>
            <a:r>
              <a:rPr lang="es-CO" sz="1200" dirty="0" err="1"/>
              <a:t>readiness</a:t>
            </a:r>
            <a:r>
              <a:rPr lang="es-CO" sz="1200" dirty="0"/>
              <a:t>.</a:t>
            </a:r>
          </a:p>
          <a:p>
            <a:r>
              <a:rPr lang="es-CO" sz="1200" b="1" dirty="0"/>
              <a:t>III. </a:t>
            </a:r>
            <a:r>
              <a:rPr lang="es-CO" sz="1200" b="1" dirty="0" err="1"/>
              <a:t>Technical</a:t>
            </a:r>
            <a:r>
              <a:rPr lang="es-CO" sz="1200" b="1" dirty="0"/>
              <a:t> </a:t>
            </a:r>
            <a:r>
              <a:rPr lang="es-CO" sz="1200" b="1" dirty="0" err="1"/>
              <a:t>Ecosystem</a:t>
            </a:r>
            <a:endParaRPr lang="es-CO" sz="1200" dirty="0"/>
          </a:p>
          <a:p>
            <a:pPr marL="0" indent="0">
              <a:buNone/>
            </a:pPr>
            <a:r>
              <a:rPr lang="es-CO" sz="1200" b="1" dirty="0" err="1"/>
              <a:t>Primary</a:t>
            </a:r>
            <a:r>
              <a:rPr lang="es-CO" sz="1200" b="1" dirty="0"/>
              <a:t> </a:t>
            </a:r>
            <a:r>
              <a:rPr lang="es-CO" sz="1200" b="1" dirty="0" err="1"/>
              <a:t>Languages</a:t>
            </a:r>
            <a:r>
              <a:rPr lang="es-CO" sz="1200" b="1" dirty="0"/>
              <a:t>:</a:t>
            </a:r>
            <a:r>
              <a:rPr lang="es-CO" sz="1200" dirty="0"/>
              <a:t> Python, SQL, JavaScript, </a:t>
            </a:r>
            <a:r>
              <a:rPr lang="es-CO" sz="1200" dirty="0" err="1"/>
              <a:t>TypeScript</a:t>
            </a:r>
            <a:r>
              <a:rPr lang="es-CO" sz="1200" dirty="0"/>
              <a:t>, </a:t>
            </a:r>
            <a:r>
              <a:rPr lang="es-CO" sz="1200" dirty="0" err="1"/>
              <a:t>Rust</a:t>
            </a:r>
            <a:r>
              <a:rPr lang="es-CO" sz="1200" dirty="0"/>
              <a:t>, </a:t>
            </a:r>
            <a:r>
              <a:rPr lang="es-CO" sz="1200" dirty="0" err="1"/>
              <a:t>Go</a:t>
            </a:r>
            <a:r>
              <a:rPr lang="es-CO" sz="1200" dirty="0"/>
              <a:t>.</a:t>
            </a:r>
          </a:p>
          <a:p>
            <a:pPr marL="0" indent="0">
              <a:buNone/>
            </a:pPr>
            <a:r>
              <a:rPr lang="es-CO" sz="1200" b="1" dirty="0" err="1"/>
              <a:t>Database</a:t>
            </a:r>
            <a:r>
              <a:rPr lang="es-CO" sz="1200" b="1" dirty="0"/>
              <a:t> </a:t>
            </a:r>
            <a:r>
              <a:rPr lang="es-CO" sz="1200" b="1" dirty="0" err="1"/>
              <a:t>Infrastructure</a:t>
            </a:r>
            <a:r>
              <a:rPr lang="es-CO" sz="1200" b="1" dirty="0"/>
              <a:t>:</a:t>
            </a:r>
            <a:r>
              <a:rPr lang="es-CO" sz="1200" dirty="0"/>
              <a:t> PostgreSQL, MySQL, MongoDB, Redis, </a:t>
            </a:r>
            <a:r>
              <a:rPr lang="es-CO" sz="1200" dirty="0" err="1"/>
              <a:t>Supabase</a:t>
            </a:r>
            <a:r>
              <a:rPr lang="es-CO" sz="1200" dirty="0"/>
              <a:t>.</a:t>
            </a:r>
          </a:p>
          <a:p>
            <a:r>
              <a:rPr lang="es-CO" sz="1200" b="1" dirty="0"/>
              <a:t>IV. </a:t>
            </a:r>
            <a:r>
              <a:rPr lang="es-CO" sz="1200" b="1" dirty="0" err="1"/>
              <a:t>Methodology</a:t>
            </a:r>
            <a:r>
              <a:rPr lang="es-CO" sz="1200" b="1" dirty="0"/>
              <a:t> &amp; </a:t>
            </a:r>
            <a:r>
              <a:rPr lang="es-CO" sz="1200" b="1" dirty="0" err="1"/>
              <a:t>Provenance</a:t>
            </a:r>
            <a:endParaRPr lang="es-CO" sz="1200" dirty="0"/>
          </a:p>
          <a:p>
            <a:pPr marL="0" indent="0">
              <a:buNone/>
            </a:pPr>
            <a:r>
              <a:rPr lang="es-CO" sz="1200" b="1" dirty="0" err="1"/>
              <a:t>Source</a:t>
            </a:r>
            <a:r>
              <a:rPr lang="es-CO" sz="1200" b="1" dirty="0"/>
              <a:t>:</a:t>
            </a:r>
            <a:r>
              <a:rPr lang="es-CO" sz="1200" dirty="0"/>
              <a:t> </a:t>
            </a:r>
            <a:r>
              <a:rPr lang="es-CO" sz="1200" dirty="0" err="1"/>
              <a:t>Stack</a:t>
            </a:r>
            <a:r>
              <a:rPr lang="es-CO" sz="1200" dirty="0"/>
              <a:t> </a:t>
            </a:r>
            <a:r>
              <a:rPr lang="es-CO" sz="1200" dirty="0" err="1"/>
              <a:t>Overflow</a:t>
            </a:r>
            <a:r>
              <a:rPr lang="es-CO" sz="1200" dirty="0"/>
              <a:t> </a:t>
            </a:r>
            <a:r>
              <a:rPr lang="es-CO" sz="1200" dirty="0" err="1"/>
              <a:t>Developer</a:t>
            </a:r>
            <a:r>
              <a:rPr lang="es-CO" sz="1200" dirty="0"/>
              <a:t> </a:t>
            </a:r>
            <a:r>
              <a:rPr lang="es-CO" sz="1200" dirty="0" err="1"/>
              <a:t>Survey</a:t>
            </a:r>
            <a:r>
              <a:rPr lang="es-CO" sz="1200" dirty="0"/>
              <a:t> 2026 (IBM </a:t>
            </a:r>
            <a:r>
              <a:rPr lang="es-CO" sz="1200" dirty="0" err="1"/>
              <a:t>Skills</a:t>
            </a:r>
            <a:r>
              <a:rPr lang="es-CO" sz="1200" dirty="0"/>
              <a:t> Network </a:t>
            </a:r>
            <a:r>
              <a:rPr lang="es-CO" sz="1200" dirty="0" err="1"/>
              <a:t>Subset</a:t>
            </a:r>
            <a:r>
              <a:rPr lang="es-CO" sz="1200" dirty="0"/>
              <a:t>).</a:t>
            </a:r>
          </a:p>
          <a:p>
            <a:pPr marL="0" indent="0">
              <a:buNone/>
            </a:pPr>
            <a:r>
              <a:rPr lang="es-CO" sz="1200" b="1" dirty="0" err="1"/>
              <a:t>Stack</a:t>
            </a:r>
            <a:r>
              <a:rPr lang="es-CO" sz="1200" b="1" dirty="0"/>
              <a:t>:</a:t>
            </a:r>
            <a:r>
              <a:rPr lang="es-CO" sz="1200" dirty="0"/>
              <a:t> Python 3.12, Pandas, </a:t>
            </a:r>
            <a:r>
              <a:rPr lang="es-CO" sz="1200" dirty="0" err="1"/>
              <a:t>Matplotlib</a:t>
            </a:r>
            <a:r>
              <a:rPr lang="es-CO" sz="1200" dirty="0"/>
              <a:t>, </a:t>
            </a:r>
            <a:r>
              <a:rPr lang="es-CO" sz="1200" dirty="0" err="1"/>
              <a:t>Seaborn</a:t>
            </a:r>
            <a:r>
              <a:rPr lang="es-CO" sz="1200" dirty="0"/>
              <a:t>, SQLite3.</a:t>
            </a:r>
          </a:p>
          <a:p>
            <a:endParaRPr sz="1200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39AD24F-2D2B-43A6-A19F-CF1E1EFDE604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1479</Words>
  <Application>Microsoft Office PowerPoint</Application>
  <PresentationFormat>Panorámica</PresentationFormat>
  <Paragraphs>123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Emerging Technology Trends: Insights from the Stack Overflow Developer Survey 2026</vt:lpstr>
      <vt:lpstr>Presentación de PowerPoint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Current Technology Usage — Key Insights</vt:lpstr>
      <vt:lpstr>DASHBOARD TAB 2: Future Technology Trends</vt:lpstr>
      <vt:lpstr>DASHBOARD TAB 3: Demographics</vt:lpstr>
      <vt:lpstr>Salary &amp; Experience Analysis 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Jaiverth Adrian Tovar Lozada</cp:lastModifiedBy>
  <cp:revision>9</cp:revision>
  <dcterms:created xsi:type="dcterms:W3CDTF">2024-10-30T05:40:03Z</dcterms:created>
  <dcterms:modified xsi:type="dcterms:W3CDTF">2026-03-22T19:30:48Z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