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16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99" d="100"/>
          <a:sy n="99" d="100"/>
        </p:scale>
        <p:origin x="72" y="84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notesMaster" Target="notesMasters/notesMaster1.xml"/><Relationship Id="rId26" Type="http://schemas.openxmlformats.org/officeDocument/2006/relationships/tags" Target="tags/tag1.xml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8/10/relationships/authors" Target="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image" Target="../media/image1.png"/><Relationship Id="rId10" Type="http://schemas.microsoft.com/office/2007/relationships/hdphoto" Target="../media/hdphoto1.wdp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6.png"/><Relationship Id="rId16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  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4" Type="http://schemas.openxmlformats.org/officeDocument/2006/relationships/customXml" Target="../ink/ink1.xml"/><Relationship Id="rId5" Type="http://schemas.openxmlformats.org/officeDocument/2006/relationships/image" Target="../media/image10.png"/><Relationship Id="rId6" Type="http://schemas.openxmlformats.org/officeDocument/2006/relationships/customXml" Target="../ink/ink2.xml"/><Relationship Id="rId7" Type="http://schemas.openxmlformats.org/officeDocument/2006/relationships/customXml" Target="../ink/ink3.xml"/><Relationship Id="rId8" Type="http://schemas.openxmlformats.org/officeDocument/2006/relationships/customXml" Target="../ink/ink4.xml"/><Relationship Id="rId9" Type="http://schemas.openxmlformats.org/officeDocument/2006/relationships/image" Target="../media/image11.png"/><Relationship Id="rId10" Type="http://schemas.openxmlformats.org/officeDocument/2006/relationships/customXml" Target="../ink/ink5.xml"/><Relationship Id="rId11" Type="http://schemas.openxmlformats.org/officeDocument/2006/relationships/customXml" Target="../ink/ink6.xml"/><Relationship Id="rId12" Type="http://schemas.openxmlformats.org/officeDocument/2006/relationships/customXml" Target="../ink/ink7.xml"/><Relationship Id="rId13" Type="http://schemas.openxmlformats.org/officeDocument/2006/relationships/customXml" Target="../ink/ink8.xml"/><Relationship Id="rId14" Type="http://schemas.openxmlformats.org/officeDocument/2006/relationships/customXml" Target="../ink/ink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/>
              <a:t>Emerging Technology Trends: Insights from the Stack Overflow Developer Survey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Jaiverth Adrian Tovar Lozada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March 21, 2026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Key Findings from the Stack Overflow Developer Survey 2026</a:t>
            </a:r>
          </a:p>
          <a:p>
            <a:r>
              <a:rPr lang="en-US" sz="2200" dirty="0"/>
              <a:t>Python is the #1 most desired language, overtaking JavaScript (34,245 vs 23,774)</a:t>
            </a:r>
          </a:p>
          <a:p>
            <a:r>
              <a:rPr lang="en-US" sz="2200" dirty="0"/>
              <a:t>PostgreSQL dominates databases — most used today (40,232) and most desired (46,397)</a:t>
            </a:r>
          </a:p>
          <a:p>
            <a:pPr lvl="1"/>
            <a:r>
              <a:rPr lang="en-US" sz="1800" dirty="0"/>
              <a:t>Supabase enters the desired top 10 for the first time — an emerging challenger</a:t>
            </a:r>
          </a:p>
          <a:p>
            <a:pPr lvl="1"/>
            <a:r>
              <a:rPr lang="en-US" sz="1800" dirty="0"/>
              <a:t>Developer profile: majority 25–34 yrs old · Bachelor's degree · hybrid work preferred</a:t>
            </a:r>
          </a:p>
          <a:p>
            <a:pPr lvl="1"/>
            <a:r>
              <a:rPr lang="en-US" sz="1800" dirty="0"/>
              <a:t>Median annual salary: $65,000  |  Job satisfaction: 6.9 / 10</a:t>
            </a:r>
          </a:p>
          <a:p>
            <a:r>
              <a:rPr lang="en-US" sz="2200" dirty="0"/>
              <a:t>64,950 clean responses analyzed after deduplication and quality checks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" y="2223535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048708" y="1541602"/>
            <a:ext cx="7578610" cy="46281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Purpose, Target Audience &amp; Value of the Analysis</a:t>
            </a:r>
            <a:endParaRPr lang="en-US" sz="2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200" b="1" dirty="0">
                <a:solidFill>
                  <a:schemeClr val="tx1"/>
                </a:solidFill>
              </a:rPr>
              <a:t>Purpose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Analyze the Stack Overflow Developer Survey to identify current and future in-demand technology skills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Support strategic business decisions for a global IT and technology consulting firm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Target Audience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Technology leaders, hiring managers, and strategic decision-makers within the organization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Key Questions Addressed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Which programming languages, databases, and IDEs are most in demand today?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What technologies are developers planning to adopt in the near future?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What are the demographic characteristics of the global developer community?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Value of This Analysis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Enables data-driven hiring, training, and technology investment strategies for 2026 and beyond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Data Source, Collection &amp; Wrangling</a:t>
            </a:r>
          </a:p>
          <a:p>
            <a:r>
              <a:rPr lang="en-US" sz="2200" dirty="0"/>
              <a:t>Source: Stack Overflow Developer Survey 2026 (IBM Skills Network, ODbL license)</a:t>
            </a:r>
          </a:p>
          <a:p>
            <a:r>
              <a:rPr lang="en-US" sz="2200" dirty="0"/>
              <a:t>65,437 raw responses · 114 columns · loaded via URL · persisted in SQLite</a:t>
            </a:r>
          </a:p>
          <a:p>
            <a:r>
              <a:rPr lang="en-US" sz="2200" dirty="0"/>
              <a:t>Data Wrangling — 8-step pipeline:</a:t>
            </a:r>
          </a:p>
          <a:p>
            <a:r>
              <a:rPr lang="en-US" sz="2200" dirty="0"/>
              <a:t>Tools: Python 3.12 · pandas · matplotlib · seaborn · sqlite3</a:t>
            </a:r>
          </a:p>
          <a:p>
            <a:pPr lvl="1"/>
            <a:r>
              <a:rPr lang="en-US" sz="2200" dirty="0"/>
              <a:t>487 duplicates removed · missing values imputed (median / mode) · IQR outlier detection</a:t>
            </a:r>
          </a:p>
          <a:p>
            <a:pPr lvl="1"/>
            <a:r>
              <a:rPr lang="en-US" sz="2200" dirty="0"/>
              <a:t>4 features engineered: ExperienceLevel · Comp_MinMax · Comp_Zscore · YearsCodeProNum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818965" y="3126000"/>
            <a:ext cx="741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</a:pPr>
            <a:r>
              <a:rPr lang="en-US" sz="2400" dirty="0"/>
              <a:t>&lt;Please present your results in the following slides.&gt;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/>
            </a:r>
            <a:r>
              <a:rPr lang="en-IN" sz="2400" dirty="0"/>
              <a:t/>
            </a:r>
            <a:r>
              <a:rPr lang="en-US" sz="2200" dirty="0"/>
              <a:t/>
            </a:r>
          </a:p>
        </p:txBody>
      </p:sp>
      <p:pic>
        <p:nvPicPr>
          <p:cNvPr id="11" name="Picture 10" descr="job_pos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1385"/>
            <a:ext cx="10489276" cy="28627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/>
            </a:r>
            <a:r>
              <a:rPr lang="en-IN" sz="2400" dirty="0"/>
              <a:t/>
            </a:r>
            <a:r>
              <a:rPr lang="en-US" sz="2200" dirty="0"/>
              <a:t/>
            </a:r>
          </a:p>
        </p:txBody>
      </p:sp>
      <p:pic>
        <p:nvPicPr>
          <p:cNvPr id="8" name="Picture 7" descr="popular_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05" y="2191385"/>
            <a:ext cx="10525371" cy="28627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45473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1193813" y="1340490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JavaScript leads current usage (42,697) but Python surges to #1 desired (34,245) — a clear market shift toward data science and AI. TypeScript holds top 5 in both lists.</a:t>
            </a:r>
          </a:p>
        </p:txBody>
      </p:sp>
      <p:pic>
        <p:nvPicPr>
          <p:cNvPr id="12" name="Picture 11" descr="lang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73" y="2663554"/>
            <a:ext cx="4614949" cy="3670301"/>
          </a:xfrm>
          <a:prstGeom prst="rect">
            <a:avLst/>
          </a:prstGeom>
        </p:spPr>
      </p:pic>
      <p:pic>
        <p:nvPicPr>
          <p:cNvPr id="13" name="Picture 12" descr="lang_desi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63554"/>
            <a:ext cx="4614949" cy="36703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r>
              <a:rPr lang="en-US" dirty="0"/>
              <a:t>JavaScript is the most widely used language today (42,697 respondents)</a:t>
            </a:r>
          </a:p>
          <a:p>
            <a:r>
              <a:rPr lang="en-US" dirty="0"/>
              <a:t>Python is #1 desired for next year (34,245), surpassing JavaScript by 44%</a:t>
            </a:r>
          </a:p>
          <a:p>
            <a:r>
              <a:rPr lang="en-US" dirty="0"/>
              <a:t>TypeScript ranks top 5 in both lists — steady growth as JavaScript's companion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r>
              <a:rPr lang="en-US" dirty="0"/>
              <a:t>Prioritize Python upskilling for teams moving into data science and AI roles</a:t>
            </a:r>
          </a:p>
          <a:p>
            <a:r>
              <a:rPr lang="en-US" dirty="0"/>
              <a:t>JavaScript + TypeScript remain essential skills for full-stack development hiring</a:t>
            </a:r>
          </a:p>
          <a:p>
            <a:r>
              <a:rPr lang="en-US" dirty="0"/>
              <a:t>SQL (4th most used) is critical for data analyst and backend developer roles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13816" y="275893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695286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1468392" y="1500489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PostgreSQL leads both current use (40,232) and future demand (46,397) by a wide margin. Supabase enters the desired top 10 for the first time — an emerging challenger to watch.</a:t>
            </a:r>
          </a:p>
        </p:txBody>
      </p:sp>
      <p:pic>
        <p:nvPicPr>
          <p:cNvPr id="8" name="Picture 7" descr="db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758931"/>
            <a:ext cx="4614949" cy="3670301"/>
          </a:xfrm>
          <a:prstGeom prst="rect">
            <a:avLst/>
          </a:prstGeom>
        </p:spPr>
      </p:pic>
      <p:pic>
        <p:nvPicPr>
          <p:cNvPr id="9" name="Picture 8" descr="db_desi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95286"/>
            <a:ext cx="4614949" cy="36703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r>
              <a:rPr lang="en-US" dirty="0"/>
              <a:t>PostgreSQL is the most used AND most desired database — by a wide margin</a:t>
            </a:r>
          </a:p>
          <a:p>
            <a:r>
              <a:rPr lang="en-US" dirty="0"/>
              <a:t>MySQL remains widely used but shows declining preference in desired rankings</a:t>
            </a:r>
          </a:p>
          <a:p>
            <a:r>
              <a:rPr lang="en-US" dirty="0"/>
              <a:t>Supabase (2,930 desired) enters the top 10 despite near-zero current usage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r>
              <a:rPr lang="en-US" dirty="0"/>
              <a:t>Center database training and infrastructure around PostgreSQL</a:t>
            </a:r>
          </a:p>
          <a:p>
            <a:r>
              <a:rPr lang="en-US" dirty="0"/>
              <a:t>Evaluate Supabase for greenfield projects — strong developer enthusiasm</a:t>
            </a:r>
          </a:p>
          <a:p>
            <a:r>
              <a:rPr lang="en-US" dirty="0"/>
              <a:t>Redis and MongoDB growth signals rising demand for non-relational skills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&lt;Please present your dashboard in the following slides.&gt;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1 goes here</a:t>
            </a:r>
          </a:p>
          <a:p>
            <a:r>
              <a:rPr lang="en-US" dirty="0"/>
              <a:t>Dashboard Insight</a:t>
            </a:r>
          </a:p>
          <a:p>
            <a:r>
              <a:rPr lang="en-US" dirty="0"/>
              <a:t>Summarize key insights shown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2 goes here</a:t>
            </a:r>
          </a:p>
          <a:p>
            <a:r>
              <a:rPr lang="en-US" dirty="0"/>
              <a:t>Dashboard Insight</a:t>
            </a:r>
          </a:p>
          <a:p>
            <a:r>
              <a:rPr lang="en-US" dirty="0"/>
              <a:t>Summarize future trends.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3 goes here</a:t>
            </a:r>
          </a:p>
          <a:p>
            <a:r>
              <a:rPr lang="en-US" dirty="0"/>
              <a:t>Dashboard Insight</a:t>
            </a:r>
          </a:p>
          <a:p>
            <a:r>
              <a:rPr lang="en-IN" dirty="0"/>
              <a:t>Summarize demographic insights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1825625"/>
            <a:ext cx="6272645" cy="4351338"/>
          </a:xfrm>
        </p:spPr>
        <p:txBody>
          <a:bodyPr/>
          <a:lstStyle/>
          <a:p>
            <a:r>
              <a:rPr lang="en-US" dirty="0"/>
              <a:t>The survey reveals a developer community in active transition — from JavaScript-centric web development toward Python-driven AI and data science workflows.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r>
              <a:rPr lang="en-US" dirty="0"/>
              <a:t>Python overtook JavaScript as the #1 desired language — AI demand is the driver</a:t>
            </a:r>
          </a:p>
          <a:p>
            <a:r>
              <a:rPr lang="en-US" dirty="0"/>
              <a:t>PostgreSQL is the undisputed database standard, current and future</a:t>
            </a:r>
          </a:p>
          <a:p>
            <a:r>
              <a:rPr lang="en-US" dirty="0"/>
              <a:t>Median salary $65,000 · Job satisfaction 6.9/10 · 42% prefer hybrid 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r>
              <a:rPr lang="en-US" dirty="0"/>
              <a:t>Invest in Python and data science training as a core workforce development strategy</a:t>
            </a:r>
          </a:p>
          <a:p>
            <a:r>
              <a:rPr lang="en-US" dirty="0"/>
              <a:t>Standardize on PostgreSQL; monitor Supabase and Redis for emerging needs</a:t>
            </a:r>
          </a:p>
          <a:p>
            <a:r>
              <a:rPr lang="en-US" dirty="0"/>
              <a:t>Design retention packages beyond salary: remote flexibility and learning budgets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Python and PostgreSQL define the 2026 developer technology landscape</a:t>
            </a:r>
          </a:p>
          <a:p>
            <a:r>
              <a:rPr lang="en-US"/>
              <a:t>A young (25–34), Bachelor's-educated workforce presents both hiring opportunity and upskilling demand</a:t>
            </a:r>
          </a:p>
          <a:p>
            <a:r>
              <a:rPr lang="en-US"/>
              <a:t>Developer satisfaction is driven by culture and flexibility — not salary alone</a:t>
            </a:r>
          </a:p>
          <a:p>
            <a:r>
              <a:rPr lang="en-US"/>
              <a:t>Data-driven investment in Python, PostgreSQL, and hybrid work policies will be key competitive advantages for 2026 and beyond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Include any relevant additional charts, or tables that you may have created during the analysis phase.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909</Words>
  <Application>Microsoft Office PowerPoint</Application>
  <PresentationFormat>Panorámica</PresentationFormat>
  <Paragraphs>106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Emerging Technology Trends: Insights from the Stack Overflow Developer Survey 2026</vt:lpstr>
      <vt:lpstr>Presentación de PowerPoint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Jaiverth Adrian Tovar Lozada</cp:lastModifiedBy>
  <cp:revision>7</cp:revision>
  <dcterms:created xsi:type="dcterms:W3CDTF">2024-10-30T05:40:03Z</dcterms:created>
  <dcterms:modified xsi:type="dcterms:W3CDTF">2026-03-22T16:57:46Z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