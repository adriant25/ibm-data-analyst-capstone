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16.svg" ContentType="image/svg+xml"/>
  <Override PartName="/ppt/media/image3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5"/>
  </p:notesMasterIdLst>
  <p:sldIdLst>
    <p:sldId id="256" r:id="rId5"/>
    <p:sldId id="257" r:id="rId6"/>
    <p:sldId id="258" r:id="rId7"/>
    <p:sldId id="259" r:id="rId8"/>
    <p:sldId id="260" r:id="rId9"/>
    <p:sldId id="278" r:id="rId10"/>
    <p:sldId id="274" r:id="rId11"/>
    <p:sldId id="275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1857375"/>
  <p:custDataLst>
    <p:tags r:id="rId2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B49"/>
    <a:srgbClr val="E76F39"/>
    <a:srgbClr val="0072C3"/>
    <a:srgbClr val="007D79"/>
    <a:srgbClr val="D02670"/>
    <a:srgbClr val="231F20"/>
    <a:srgbClr val="33B1FF"/>
    <a:srgbClr val="262626"/>
    <a:srgbClr val="525252"/>
    <a:srgbClr val="BE9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3" autoAdjust="0"/>
    <p:restoredTop sz="91480" autoAdjust="0"/>
  </p:normalViewPr>
  <p:slideViewPr>
    <p:cSldViewPr snapToGrid="0">
      <p:cViewPr varScale="1">
        <p:scale>
          <a:sx n="99" d="100"/>
          <a:sy n="99" d="100"/>
        </p:scale>
        <p:origin x="72" y="84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notesMaster" Target="notesMasters/notesMaster1.xml"/><Relationship Id="rId26" Type="http://schemas.openxmlformats.org/officeDocument/2006/relationships/tags" Target="tags/tag1.xml"/><Relationship Id="rId27" Type="http://schemas.openxmlformats.org/officeDocument/2006/relationships/commentAuthors" Target="commentAuthors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8/10/relationships/authors" Target="author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image" Target="../media/image1.png"/><Relationship Id="rId10" Type="http://schemas.microsoft.com/office/2007/relationships/hdphoto" Target="../media/hdphoto1.wdp"/><Relationship Id="rId11" Type="http://schemas.openxmlformats.org/officeDocument/2006/relationships/image" Target="../media/image2.png"/><Relationship Id="rId12" Type="http://schemas.openxmlformats.org/officeDocument/2006/relationships/image" Target="../media/image3.svg"/><Relationship Id="rId13" Type="http://schemas.openxmlformats.org/officeDocument/2006/relationships/image" Target="../media/image4.png"/><Relationship Id="rId14" Type="http://schemas.openxmlformats.org/officeDocument/2006/relationships/image" Target="../media/image5.svg"/><Relationship Id="rId15" Type="http://schemas.openxmlformats.org/officeDocument/2006/relationships/image" Target="../media/image6.png"/><Relationship Id="rId16" Type="http://schemas.openxmlformats.org/officeDocument/2006/relationships/image" Target="../media/image7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  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9.png"/><Relationship Id="rId4" Type="http://schemas.openxmlformats.org/officeDocument/2006/relationships/customXml" Target="../ink/ink1.xml"/><Relationship Id="rId5" Type="http://schemas.openxmlformats.org/officeDocument/2006/relationships/image" Target="../media/image10.png"/><Relationship Id="rId6" Type="http://schemas.openxmlformats.org/officeDocument/2006/relationships/customXml" Target="../ink/ink2.xml"/><Relationship Id="rId7" Type="http://schemas.openxmlformats.org/officeDocument/2006/relationships/customXml" Target="../ink/ink3.xml"/><Relationship Id="rId8" Type="http://schemas.openxmlformats.org/officeDocument/2006/relationships/customXml" Target="../ink/ink4.xml"/><Relationship Id="rId9" Type="http://schemas.openxmlformats.org/officeDocument/2006/relationships/image" Target="../media/image11.png"/><Relationship Id="rId10" Type="http://schemas.openxmlformats.org/officeDocument/2006/relationships/customXml" Target="../ink/ink5.xml"/><Relationship Id="rId11" Type="http://schemas.openxmlformats.org/officeDocument/2006/relationships/customXml" Target="../ink/ink6.xml"/><Relationship Id="rId12" Type="http://schemas.openxmlformats.org/officeDocument/2006/relationships/customXml" Target="../ink/ink7.xml"/><Relationship Id="rId13" Type="http://schemas.openxmlformats.org/officeDocument/2006/relationships/customXml" Target="../ink/ink8.xml"/><Relationship Id="rId14" Type="http://schemas.openxmlformats.org/officeDocument/2006/relationships/customXml" Target="../ink/ink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5.png"/><Relationship Id="rId4" Type="http://schemas.openxmlformats.org/officeDocument/2006/relationships/image" Target="../media/image1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slideLayout" Target="../slideLayouts/slideLayout3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2162"/>
            <a:ext cx="10515600" cy="611620"/>
          </a:xfrm>
        </p:spPr>
        <p:txBody>
          <a:bodyPr anchor="ctr">
            <a:noAutofit/>
          </a:bodyPr>
          <a:lstStyle/>
          <a:p>
            <a:r>
              <a:rPr lang="en-US" dirty="0"/>
              <a:t>Emerging Technology Trends: Insights from the Stack Overflow Developer Survey 2026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Jaiverth Adrian Tovar Lozada</a:t>
            </a:r>
          </a:p>
          <a:p>
            <a:pPr marL="0" indent="0">
              <a:buNone/>
            </a:pP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IBM Plex Mono Medium" panose="020B0609050203000203" pitchFamily="49" charset="0"/>
              </a:rPr>
              <a:t>March 21, 2026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811" y="1600200"/>
            <a:ext cx="5038015" cy="4572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Executive Summary</a:t>
            </a:r>
          </a:p>
          <a:p>
            <a:r>
              <a:rPr lang="en-US" sz="2200" dirty="0"/>
              <a:t>Introduction</a:t>
            </a:r>
          </a:p>
          <a:p>
            <a:r>
              <a:rPr lang="en-US" sz="2200" dirty="0"/>
              <a:t>Methodology</a:t>
            </a:r>
          </a:p>
          <a:p>
            <a:r>
              <a:rPr lang="en-US" sz="2200" dirty="0"/>
              <a:t>Results</a:t>
            </a:r>
          </a:p>
          <a:p>
            <a:pPr lvl="1"/>
            <a:r>
              <a:rPr lang="en-US" sz="1800" dirty="0"/>
              <a:t>Visualization – Charts</a:t>
            </a:r>
          </a:p>
          <a:p>
            <a:pPr lvl="1"/>
            <a:r>
              <a:rPr lang="en-US" sz="1800" dirty="0"/>
              <a:t>Dashboard</a:t>
            </a:r>
          </a:p>
          <a:p>
            <a:r>
              <a:rPr lang="en-US" sz="2200" dirty="0"/>
              <a:t>Discussion</a:t>
            </a:r>
          </a:p>
          <a:p>
            <a:pPr lvl="1"/>
            <a:r>
              <a:rPr lang="en-US" sz="1800" dirty="0"/>
              <a:t>Findings &amp; Implications</a:t>
            </a:r>
          </a:p>
          <a:p>
            <a:r>
              <a:rPr lang="en-US" sz="2200" dirty="0"/>
              <a:t>Conclusion</a:t>
            </a:r>
          </a:p>
          <a:p>
            <a:r>
              <a:rPr lang="en-US" sz="2200" dirty="0"/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389349" y="1630528"/>
            <a:ext cx="7068725" cy="4465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/>
              <a:t>Key Findings from the Stack Overflow Developer Survey 2026</a:t>
            </a:r>
          </a:p>
          <a:p>
            <a:r>
              <a:rPr lang="en-US" sz="2200" dirty="0"/>
              <a:t>Python is the #1 most desired language, overtaking JavaScript (34,245 vs 23,774)</a:t>
            </a:r>
          </a:p>
          <a:p>
            <a:r>
              <a:rPr lang="en-US" sz="2200" dirty="0"/>
              <a:t>PostgreSQL dominates databases — most used today (40,232) and most desired (46,397)</a:t>
            </a:r>
          </a:p>
          <a:p>
            <a:pPr lvl="1"/>
            <a:r>
              <a:rPr lang="en-US" sz="1800" dirty="0"/>
              <a:t>Supabase enters the desired top 10 for the first time — an emerging challenger</a:t>
            </a:r>
          </a:p>
          <a:p>
            <a:pPr lvl="1"/>
            <a:r>
              <a:rPr lang="en-US" sz="1800" dirty="0"/>
              <a:t>Developer profile: majority 25–34 yrs old · Bachelor's degree · hybrid work preferred</a:t>
            </a:r>
          </a:p>
          <a:p>
            <a:pPr lvl="1"/>
            <a:r>
              <a:rPr lang="en-US" sz="1800" dirty="0"/>
              <a:t>Median annual salary: $65,000  |  Job satisfaction: 6.9 / 10</a:t>
            </a:r>
          </a:p>
          <a:p>
            <a:r>
              <a:rPr lang="en-US" sz="2200" dirty="0"/>
              <a:t>64,950 clean responses analyzed after deduplication and quality checks</a:t>
            </a:r>
          </a:p>
          <a:p>
            <a:r>
              <a:rPr lang="en-US" sz="2200" dirty="0"/>
              <a:t/>
            </a:r>
          </a:p>
          <a:p>
            <a:r>
              <a:rPr lang="en-US" sz="2200" dirty="0"/>
              <a:t/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926" y="2136507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21" y="2223535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048708" y="1541602"/>
            <a:ext cx="7578610" cy="4628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Purpose, Target Audience &amp; Value of the Analysis</a:t>
            </a:r>
            <a:endParaRPr lang="en-US" sz="22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sz="2200" b="1" dirty="0">
                <a:solidFill>
                  <a:schemeClr val="tx1"/>
                </a:solidFill>
              </a:rPr>
              <a:t>Purpose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Analyze the Stack Overflow Developer Survey to identify current and future in-demand technology skills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Support strategic business decisions for a global IT and technology consulting firm</a:t>
            </a:r>
          </a:p>
          <a:p>
            <a:r>
              <a:rPr lang="en-US" sz="2200" b="1" dirty="0">
                <a:solidFill>
                  <a:schemeClr val="tx1"/>
                </a:solidFill>
              </a:rPr>
              <a:t>Target Audience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Technology leaders, hiring managers, and strategic decision-makers within the organization</a:t>
            </a:r>
          </a:p>
          <a:p>
            <a:r>
              <a:rPr lang="en-US" sz="2200" b="1" dirty="0">
                <a:solidFill>
                  <a:schemeClr val="tx1"/>
                </a:solidFill>
              </a:rPr>
              <a:t>Key Questions Addressed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Which programming languages, databases, and IDEs are most in demand today?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What technologies are developers planning to adopt in the near future?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What are the demographic characteristics of the global developer community?</a:t>
            </a:r>
          </a:p>
          <a:p>
            <a:r>
              <a:rPr lang="en-US" sz="2200" b="1" dirty="0">
                <a:solidFill>
                  <a:schemeClr val="tx1"/>
                </a:solidFill>
              </a:rPr>
              <a:t>Value of This Analysis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Enables data-driven hiring, training, and technology investment strategies for 2026 and beyond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681037"/>
            <a:ext cx="10571747" cy="685799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680153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/>
              <a:t>Data Source, Collection &amp; Wrangling</a:t>
            </a:r>
          </a:p>
          <a:p>
            <a:r>
              <a:rPr lang="en-US" sz="2200" dirty="0"/>
              <a:t>Source: Stack Overflow Developer Survey 2026 (IBM Skills Network, ODbL license)</a:t>
            </a:r>
          </a:p>
          <a:p>
            <a:r>
              <a:rPr lang="en-US" sz="2200" dirty="0"/>
              <a:t>65,437 raw responses · 114 columns · loaded via URL · persisted in SQLite</a:t>
            </a:r>
          </a:p>
          <a:p>
            <a:r>
              <a:rPr lang="en-US" sz="2200" dirty="0"/>
              <a:t>Data Wrangling — 8-step pipeline:</a:t>
            </a:r>
          </a:p>
          <a:p>
            <a:r>
              <a:rPr lang="en-US" sz="2200" dirty="0"/>
              <a:t>Tools: Python 3.12 · pandas · matplotlib · seaborn · sqlite3</a:t>
            </a:r>
          </a:p>
          <a:p>
            <a:pPr lvl="1"/>
            <a:r>
              <a:rPr lang="en-US" sz="2200" dirty="0"/>
              <a:t>487 duplicates removed · missing values imputed (median / mode) · IQR outlier detection</a:t>
            </a:r>
          </a:p>
          <a:p>
            <a:pPr lvl="1"/>
            <a:r>
              <a:rPr lang="en-US" sz="2200" dirty="0"/>
              <a:t>4 features engineered: ExperienceLevel · Comp_MinMax · Comp_Zscore · YearsCodeProNum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47B35-92B8-C737-3DEB-4A57887A1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9CC39-D393-D59D-E066-37C17FD3C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98033"/>
            <a:ext cx="10571747" cy="1091735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0DDB6-5B82-F3F8-80C1-FE555825BAF5}"/>
              </a:ext>
            </a:extLst>
          </p:cNvPr>
          <p:cNvSpPr txBox="1">
            <a:spLocks/>
          </p:cNvSpPr>
          <p:nvPr/>
        </p:nvSpPr>
        <p:spPr>
          <a:xfrm>
            <a:off x="4285075" y="1680153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/>
          </a:p>
        </p:txBody>
      </p:sp>
      <p:pic>
        <p:nvPicPr>
          <p:cNvPr id="6" name="Graphic 5" descr="Presentation with pie chart with solid fill">
            <a:extLst>
              <a:ext uri="{FF2B5EF4-FFF2-40B4-BE49-F238E27FC236}">
                <a16:creationId xmlns:a16="http://schemas.microsoft.com/office/drawing/2014/main" id="{1D5615A7-55B9-E0F5-0A84-57A35A57B0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468" y="2101175"/>
            <a:ext cx="2972979" cy="29729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6D1E5C-FB56-616C-9776-6EF59DA07045}"/>
              </a:ext>
            </a:extLst>
          </p:cNvPr>
          <p:cNvSpPr txBox="1"/>
          <p:nvPr/>
        </p:nvSpPr>
        <p:spPr>
          <a:xfrm>
            <a:off x="3818965" y="3126000"/>
            <a:ext cx="7413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Arial"/>
              <a:buNone/>
            </a:pPr>
            <a:r>
              <a:rPr lang="en-US" sz="2400" dirty="0"/>
              <a:t>&lt;Please present your results in the following slides.&gt;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132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845" y="383051"/>
            <a:ext cx="5833456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 JOB POSTINGS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3F79416-0AFB-FC80-07E8-3CF2B4E7E798}"/>
              </a:ext>
            </a:extLst>
          </p:cNvPr>
          <p:cNvSpPr txBox="1">
            <a:spLocks/>
          </p:cNvSpPr>
          <p:nvPr/>
        </p:nvSpPr>
        <p:spPr>
          <a:xfrm>
            <a:off x="914400" y="2191385"/>
            <a:ext cx="10489276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/>
              <a:t>In Module 1 you have collected the job posting data using Job API in a file named “</a:t>
            </a:r>
            <a:r>
              <a:rPr lang="en-IN" sz="2400"/>
              <a:t>job-postings.xlsx</a:t>
            </a:r>
            <a:r>
              <a:rPr lang="en-US" sz="2200"/>
              <a:t>”. Present that data using a bar chart here. Order the bar chart in the descending order of the number of job postings.</a:t>
            </a:r>
            <a:endParaRPr lang="en-US" sz="2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536" y="383051"/>
            <a:ext cx="57087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POPULAR LANGUAGES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5B1AABA-34AF-B1F5-3C7F-11AEB9E03637}"/>
              </a:ext>
            </a:extLst>
          </p:cNvPr>
          <p:cNvSpPr txBox="1">
            <a:spLocks/>
          </p:cNvSpPr>
          <p:nvPr/>
        </p:nvSpPr>
        <p:spPr>
          <a:xfrm>
            <a:off x="878305" y="2191385"/>
            <a:ext cx="10525371" cy="28627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/>
              <a:t>In Module 1 you have collected the job postings data using web scraping in a file named “</a:t>
            </a:r>
            <a:r>
              <a:rPr lang="en-IN" sz="2400"/>
              <a:t>popular-languages.csv</a:t>
            </a:r>
            <a:r>
              <a:rPr lang="en-US" sz="2200"/>
              <a:t>”. Present that data using a bar chart here. Order the bar chart in the descending order of salary.</a:t>
            </a:r>
            <a:endParaRPr lang="en-US" sz="2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4305" y="2063170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63170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45473" y="2605804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/>
            </a:r>
          </a:p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AA9DB0-9EAC-9B25-C7F3-3CE83758128E}"/>
              </a:ext>
            </a:extLst>
          </p:cNvPr>
          <p:cNvSpPr txBox="1">
            <a:spLocks/>
          </p:cNvSpPr>
          <p:nvPr/>
        </p:nvSpPr>
        <p:spPr>
          <a:xfrm>
            <a:off x="6172200" y="2605804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C5862-9AB9-9679-23B5-A950E973AFB5}"/>
              </a:ext>
            </a:extLst>
          </p:cNvPr>
          <p:cNvSpPr txBox="1"/>
          <p:nvPr/>
        </p:nvSpPr>
        <p:spPr>
          <a:xfrm>
            <a:off x="924305" y="1475244"/>
            <a:ext cx="10429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JavaScript leads current usage (42,697) but Python surges to #1 desired (34,245) — a clear market shift toward data science and AI. TypeScript holds top 5 in both lists.</a:t>
            </a:r>
          </a:p>
        </p:txBody>
      </p:sp>
      <p:pic>
        <p:nvPicPr>
          <p:cNvPr id="12" name="Picture 11" descr="lang_cur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73" y="2605804"/>
            <a:ext cx="4614949" cy="3670301"/>
          </a:xfrm>
          <a:prstGeom prst="rect">
            <a:avLst/>
          </a:prstGeom>
        </p:spPr>
      </p:pic>
      <p:pic>
        <p:nvPicPr>
          <p:cNvPr id="13" name="Picture 12" descr="lang_desi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05804"/>
            <a:ext cx="4614949" cy="3670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3065" y="218209"/>
            <a:ext cx="11471562" cy="1330037"/>
          </a:xfrm>
        </p:spPr>
        <p:txBody>
          <a:bodyPr>
            <a:noAutofit/>
          </a:bodyPr>
          <a:lstStyle/>
          <a:p>
            <a:r>
              <a:rPr lang="en-US" dirty="0"/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  <a:r>
              <a:t/>
            </a:r>
          </a:p>
          <a:p>
            <a:r>
              <a:rPr lang="en-US" dirty="0"/>
              <a:t>JavaScript is the most widely used language today (42,697 respondents)</a:t>
            </a:r>
          </a:p>
          <a:p>
            <a:r>
              <a:rPr lang="en-US" dirty="0"/>
              <a:t>Python is #1 desired for next year (34,245), surpassing JavaScript by 44%</a:t>
            </a:r>
          </a:p>
          <a:p>
            <a:r>
              <a:rPr lang="en-US" dirty="0"/>
              <a:t>TypeScript ranks top 5 in both lists — steady growth as JavaScript's companion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  <a:r>
              <a:t/>
            </a:r>
          </a:p>
          <a:p>
            <a:r>
              <a:rPr lang="en-US" dirty="0"/>
              <a:t>Prioritize Python upskilling for teams moving into data science and AI roles</a:t>
            </a:r>
          </a:p>
          <a:p>
            <a:r>
              <a:rPr lang="en-US" dirty="0"/>
              <a:t>JavaScript + TypeScript remain essential skills for full-stack development hiring</a:t>
            </a:r>
          </a:p>
          <a:p>
            <a:r>
              <a:rPr lang="en-US" dirty="0"/>
              <a:t>SQL (4th most used) is critical for data analyst and backend developer roles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/>
              <a:t>DATABASE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2065128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65127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813816" y="275893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695286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7A0CDF-0FE0-1DE3-5B09-44D4318623B8}"/>
              </a:ext>
            </a:extLst>
          </p:cNvPr>
          <p:cNvSpPr txBox="1"/>
          <p:nvPr/>
        </p:nvSpPr>
        <p:spPr>
          <a:xfrm>
            <a:off x="881252" y="1476527"/>
            <a:ext cx="104294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PostgreSQL leads both current use (40,232) and future demand (46,397) by a wide margin. Supabase enters the desired top 10 for the first time — an emerging challenger to watch.</a:t>
            </a:r>
          </a:p>
        </p:txBody>
      </p:sp>
      <p:pic>
        <p:nvPicPr>
          <p:cNvPr id="8" name="Picture 7" descr="db_cur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758931"/>
            <a:ext cx="4614949" cy="3670301"/>
          </a:xfrm>
          <a:prstGeom prst="rect">
            <a:avLst/>
          </a:prstGeom>
        </p:spPr>
      </p:pic>
      <p:pic>
        <p:nvPicPr>
          <p:cNvPr id="9" name="Picture 8" descr="db_desi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95286"/>
            <a:ext cx="4614949" cy="36703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4786" y="572944"/>
            <a:ext cx="11457214" cy="975302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  <a:r>
              <a:t/>
            </a:r>
          </a:p>
          <a:p>
            <a:r>
              <a:rPr lang="en-US" dirty="0"/>
              <a:t>PostgreSQL is the most used AND most desired database — by a wide margin</a:t>
            </a:r>
          </a:p>
          <a:p>
            <a:r>
              <a:rPr lang="en-US" dirty="0"/>
              <a:t>MySQL remains widely used but shows declining preference in desired rankings</a:t>
            </a:r>
          </a:p>
          <a:p>
            <a:r>
              <a:rPr lang="en-US" dirty="0"/>
              <a:t>Supabase (2,930 desired) enters the top 10 despite near-zero current usage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  <a:r>
              <a:t/>
            </a:r>
          </a:p>
          <a:p>
            <a:r>
              <a:rPr lang="en-US" dirty="0"/>
              <a:t>Center database training and infrastructure around PostgreSQL</a:t>
            </a:r>
          </a:p>
          <a:p>
            <a:r>
              <a:rPr lang="en-US" dirty="0"/>
              <a:t>Evaluate Supabase for greenfield projects — strong developer enthusiasm</a:t>
            </a:r>
          </a:p>
          <a:p>
            <a:r>
              <a:rPr lang="en-US" dirty="0"/>
              <a:t>Redis and MongoDB growth signals rising demand for non-relational skills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200" dirty="0"/>
              <a:t>&lt;Please present your dashboard in the following slides.&gt;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582" y="365125"/>
            <a:ext cx="11087100" cy="985693"/>
          </a:xfrm>
        </p:spPr>
        <p:txBody>
          <a:bodyPr anchor="ctr">
            <a:noAutofit/>
          </a:bodyPr>
          <a:lstStyle/>
          <a:p>
            <a:r>
              <a:rPr lang="en-US" dirty="0"/>
              <a:t>DASHBOARD TAB 1: Current Technology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FB03-F857-3EC0-249E-AE03F3915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1 goes here</a:t>
            </a:r>
          </a:p>
          <a:p>
            <a:r>
              <a:rPr lang="en-US" dirty="0"/>
              <a:t>Dashboard Insight</a:t>
            </a:r>
          </a:p>
          <a:p>
            <a:r>
              <a:rPr lang="en-US" dirty="0"/>
              <a:t>Summarize key insights shown</a:t>
            </a:r>
          </a:p>
          <a:p>
            <a:pPr marL="0" indent="0">
              <a:buNone/>
            </a:pP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7364" y="531380"/>
            <a:ext cx="11055926" cy="1016866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DASHBOARD TAB 2: Future Technology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0BF9-AB8D-4916-3BC9-E2E92E087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2 goes here</a:t>
            </a:r>
          </a:p>
          <a:p>
            <a:r>
              <a:rPr lang="en-US" dirty="0"/>
              <a:t>Dashboard Insight</a:t>
            </a:r>
          </a:p>
          <a:p>
            <a:r>
              <a:rPr lang="en-US" dirty="0"/>
              <a:t>Summarize future trends.</a:t>
            </a:r>
          </a:p>
          <a:p>
            <a:pPr marL="0" indent="0">
              <a:buNone/>
            </a:pP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DASHBOARD TAB 3: Demographics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61A98-8DF3-E66E-19C4-7D7642551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Screenshot of dashboard tab 3 goes here</a:t>
            </a:r>
          </a:p>
          <a:p>
            <a:r>
              <a:rPr lang="en-US" dirty="0"/>
              <a:t>Dashboard Insight</a:t>
            </a:r>
          </a:p>
          <a:p>
            <a:r>
              <a:rPr lang="en-IN" dirty="0"/>
              <a:t>Summarize demographic insights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43282" y="2348628"/>
            <a:ext cx="3054361" cy="3054361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1155" y="1825625"/>
            <a:ext cx="6272645" cy="4351338"/>
          </a:xfrm>
        </p:spPr>
        <p:txBody>
          <a:bodyPr/>
          <a:lstStyle/>
          <a:p>
            <a:r>
              <a:rPr lang="en-US" dirty="0"/>
              <a:t>The survey reveals a developer community in active transition — from JavaScript-centric web development toward Python-driven AI and data science workflows.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  <a:r>
              <a:t/>
            </a:r>
          </a:p>
          <a:p>
            <a:r>
              <a:rPr lang="en-US" dirty="0"/>
              <a:t>Python overtook JavaScript as the #1 desired language — AI demand is the driver</a:t>
            </a:r>
          </a:p>
          <a:p>
            <a:r>
              <a:rPr lang="en-US" dirty="0"/>
              <a:t>PostgreSQL is the undisputed database standard, current and future</a:t>
            </a:r>
          </a:p>
          <a:p>
            <a:r>
              <a:rPr lang="en-US" dirty="0"/>
              <a:t>Median salary $65,000 · Job satisfaction 6.9/10 · 42% prefer hybrid work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  <a:r>
              <a:t/>
            </a:r>
          </a:p>
          <a:p>
            <a:r>
              <a:rPr lang="en-US" dirty="0"/>
              <a:t>Invest in Python and data science training as a core workforce development strategy</a:t>
            </a:r>
          </a:p>
          <a:p>
            <a:r>
              <a:rPr lang="en-US" dirty="0"/>
              <a:t>Standardize on PostgreSQL; monitor Supabase and Redis for emerging needs</a:t>
            </a:r>
          </a:p>
          <a:p>
            <a:r>
              <a:rPr lang="en-US" dirty="0"/>
              <a:t>Design retention packages beyond salary: remote flexibility and learning budgets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Python and PostgreSQL define the 2026 developer technology landscape</a:t>
            </a:r>
          </a:p>
          <a:p>
            <a:r>
              <a:rPr lang="en-US"/>
              <a:t>A young (25–34), Bachelor's-educated workforce presents both hiring opportunity and upskilling demand</a:t>
            </a:r>
          </a:p>
          <a:p>
            <a:r>
              <a:rPr lang="en-US"/>
              <a:t>Developer satisfaction is driven by culture and flexibility — not salary alone</a:t>
            </a:r>
          </a:p>
          <a:p>
            <a:r>
              <a:rPr lang="en-US"/>
              <a:t>Data-driven investment in Python, PostgreSQL, and hybrid work policies will be key competitive advantages for 2026 and beyond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APPENDIX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55857" y="1849823"/>
            <a:ext cx="3194581" cy="3194581"/>
          </a:xfrm>
          <a:prstGeom prst="rect">
            <a:avLst/>
          </a:prstGeom>
        </p:spPr>
      </p:pic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Include any relevant additional charts, or tables that you may have created during the analysis phase.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5445547-4CD8-432E-8B58-E443FD17F88F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536</Words>
  <Application>Microsoft Office PowerPoint</Application>
  <PresentationFormat>Panorámica</PresentationFormat>
  <Paragraphs>122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8" baseType="lpstr">
      <vt:lpstr>Arial</vt:lpstr>
      <vt:lpstr>Calibri</vt:lpstr>
      <vt:lpstr>Helv</vt:lpstr>
      <vt:lpstr>IBM Plex Mono</vt:lpstr>
      <vt:lpstr>IBM Plex Mono Medium</vt:lpstr>
      <vt:lpstr>IBM Plex Sans</vt:lpstr>
      <vt:lpstr>IBM Plex Sans SemiBold</vt:lpstr>
      <vt:lpstr>SLIDE_TEMPLATE_skill_network</vt:lpstr>
      <vt:lpstr>Emerging Technology Trends: Insights from the Stack Overflow Developer Survey 2026</vt:lpstr>
      <vt:lpstr>Presentación de PowerPoint</vt:lpstr>
      <vt:lpstr>EXECUTIVE SUMMARY</vt:lpstr>
      <vt:lpstr>INTRODUCTION</vt:lpstr>
      <vt:lpstr>METHODOLOGY</vt:lpstr>
      <vt:lpstr>Results</vt:lpstr>
      <vt:lpstr> JOB POSTINGS</vt:lpstr>
      <vt:lpstr>POPULAR LANGUAGES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1: Current Technology Usage</vt:lpstr>
      <vt:lpstr>DASHBOARD TAB 2: Future Technology Trends</vt:lpstr>
      <vt:lpstr>DASHBOARD TAB 3: Demographics</vt:lpstr>
      <vt:lpstr>DISCUSSION</vt:lpstr>
      <vt:lpstr>OVERALL FINDINGS &amp; IMPLICATIONS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Jaiverth Adrian Tovar Lozada</cp:lastModifiedBy>
  <cp:revision>6</cp:revision>
  <dcterms:created xsi:type="dcterms:W3CDTF">2024-10-30T05:40:03Z</dcterms:created>
  <dcterms:modified xsi:type="dcterms:W3CDTF">2026-03-22T15:03:04Z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